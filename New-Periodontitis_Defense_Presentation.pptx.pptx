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mbria Bold" charset="1" panose="02040803050406030204"/>
      <p:regular r:id="rId22"/>
    </p:embeddedFont>
    <p:embeddedFont>
      <p:font typeface="Calibri (MS) Bold" charset="1" panose="020F0702030404030204"/>
      <p:regular r:id="rId23"/>
    </p:embeddedFont>
    <p:embeddedFont>
      <p:font typeface="Calibri (MS)" charset="1" panose="020F0502020204030204"/>
      <p:regular r:id="rId24"/>
    </p:embeddedFont>
    <p:embeddedFont>
      <p:font typeface="Calibri (MS) Italics" charset="1" panose="020F05020202040A0204"/>
      <p:regular r:id="rId25"/>
    </p:embeddedFont>
    <p:embeddedFont>
      <p:font typeface="Calibri (MS) Bold Italics" charset="1" panose="020F07020304040A0204"/>
      <p:regular r:id="rId31"/>
    </p:embeddedFont>
    <p:embeddedFont>
      <p:font typeface="Public Sans" charset="1" panose="00000000000000000000"/>
      <p:regular r:id="rId32"/>
    </p:embeddedFont>
    <p:embeddedFont>
      <p:font typeface="Public Sans Bold" charset="1" panose="00000000000000000000"/>
      <p:regular r:id="rId33"/>
    </p:embeddedFont>
    <p:embeddedFont>
      <p:font typeface="DM Serif Display" charset="1" panose="000000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4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2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8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822960"/>
            <a:ext cx="1371600" cy="1371600"/>
            <a:chOff x="0" y="0"/>
            <a:chExt cx="18288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288D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" y="1124712"/>
            <a:ext cx="768096" cy="768096"/>
            <a:chOff x="0" y="0"/>
            <a:chExt cx="1024128" cy="102412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2331720"/>
            <a:ext cx="10424160" cy="3840480"/>
            <a:chOff x="0" y="0"/>
            <a:chExt cx="13898880" cy="5120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9888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3898880" cy="5196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Topologically-Constrained</a:t>
              </a:r>
            </a:p>
            <a:p>
              <a:pPr algn="l">
                <a:lnSpc>
                  <a:spcPts val="7128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Multi-Task Learning for</a:t>
              </a:r>
            </a:p>
            <a:p>
              <a:pPr algn="l">
                <a:lnSpc>
                  <a:spcPts val="7128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Periodontitis Grading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6858000"/>
            <a:ext cx="9601200" cy="2468880"/>
            <a:chOff x="0" y="0"/>
            <a:chExt cx="12801600" cy="3291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801600" cy="3348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Cholponai Manapova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Computer Vision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Sapienza University of Rome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A.Y. 2025–2026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32920" y="2331720"/>
            <a:ext cx="5486400" cy="5760720"/>
            <a:chOff x="0" y="0"/>
            <a:chExt cx="7315200" cy="7680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7680961"/>
            </a:xfrm>
            <a:custGeom>
              <a:avLst/>
              <a:gdLst/>
              <a:ahLst/>
              <a:cxnLst/>
              <a:rect r="r" b="b" t="t" l="l"/>
              <a:pathLst>
                <a:path h="7680961" w="7315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168896" y="0"/>
                  </a:lnTo>
                  <a:cubicBezTo>
                    <a:pt x="7249668" y="0"/>
                    <a:pt x="7315200" y="65532"/>
                    <a:pt x="7315200" y="146304"/>
                  </a:cubicBezTo>
                  <a:lnTo>
                    <a:pt x="7315200" y="7534656"/>
                  </a:lnTo>
                  <a:cubicBezTo>
                    <a:pt x="7315200" y="7615428"/>
                    <a:pt x="7249668" y="7680961"/>
                    <a:pt x="7168896" y="7680961"/>
                  </a:cubicBezTo>
                  <a:lnTo>
                    <a:pt x="146304" y="7680961"/>
                  </a:lnTo>
                  <a:cubicBezTo>
                    <a:pt x="65532" y="7680960"/>
                    <a:pt x="0" y="7615428"/>
                    <a:pt x="0" y="7534656"/>
                  </a:cubicBezTo>
                  <a:close/>
                </a:path>
              </a:pathLst>
            </a:custGeom>
            <a:solidFill>
              <a:srgbClr val="2A3A7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196060" y="3703320"/>
            <a:ext cx="1234440" cy="1234440"/>
            <a:chOff x="0" y="0"/>
            <a:chExt cx="1645920" cy="1645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67637" y="3974897"/>
            <a:ext cx="691286" cy="691286"/>
            <a:chOff x="0" y="0"/>
            <a:chExt cx="921715" cy="921715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921766" cy="921766"/>
            </a:xfrm>
            <a:custGeom>
              <a:avLst/>
              <a:gdLst/>
              <a:ahLst/>
              <a:cxnLst/>
              <a:rect r="r" b="b" t="t" l="l"/>
              <a:pathLst>
                <a:path h="921766" w="921766">
                  <a:moveTo>
                    <a:pt x="0" y="0"/>
                  </a:moveTo>
                  <a:lnTo>
                    <a:pt x="921766" y="0"/>
                  </a:lnTo>
                  <a:lnTo>
                    <a:pt x="921766" y="921766"/>
                  </a:lnTo>
                  <a:lnTo>
                    <a:pt x="0" y="92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5" b="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932920" y="5349240"/>
            <a:ext cx="5486400" cy="548640"/>
            <a:chOff x="0" y="0"/>
            <a:chExt cx="73152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Example dental radiograph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0972800" cy="1097280"/>
            <a:chOff x="0" y="0"/>
            <a:chExt cx="146304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617220"/>
            <a:ext cx="1371600" cy="1371600"/>
            <a:chOff x="0" y="0"/>
            <a:chExt cx="18288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212312" y="918972"/>
            <a:ext cx="768096" cy="768096"/>
            <a:chOff x="0" y="0"/>
            <a:chExt cx="1024128" cy="102412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2194560"/>
            <a:ext cx="16596360" cy="2606040"/>
            <a:chOff x="0" y="0"/>
            <a:chExt cx="22128480" cy="3474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3328416"/>
                  </a:lnTo>
                  <a:cubicBezTo>
                    <a:pt x="22128480" y="3409188"/>
                    <a:pt x="22062948" y="3474720"/>
                    <a:pt x="2198217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00" y="2194560"/>
            <a:ext cx="15499080" cy="2606040"/>
            <a:chOff x="0" y="0"/>
            <a:chExt cx="20665440" cy="3474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65439" cy="3474720"/>
            </a:xfrm>
            <a:custGeom>
              <a:avLst/>
              <a:gdLst/>
              <a:ahLst/>
              <a:cxnLst/>
              <a:rect r="r" b="b" t="t" l="l"/>
              <a:pathLst>
                <a:path h="34747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884" r="0" b="-658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0665440" cy="353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Periodontitis is a common dental disease that causes progressive bone loss around teeth. Automatic grading from radiographs can assist dentists in diagnosis and treatment planning.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5212080"/>
            <a:ext cx="16596360" cy="3566160"/>
            <a:chOff x="0" y="0"/>
            <a:chExt cx="22128480" cy="4754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284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4608576"/>
                  </a:lnTo>
                  <a:cubicBezTo>
                    <a:pt x="22128480" y="4689348"/>
                    <a:pt x="22062948" y="4754880"/>
                    <a:pt x="21982176" y="4754880"/>
                  </a:cubicBezTo>
                  <a:lnTo>
                    <a:pt x="146304" y="4754880"/>
                  </a:lnTo>
                  <a:cubicBezTo>
                    <a:pt x="65532" y="4754880"/>
                    <a:pt x="0" y="4689348"/>
                    <a:pt x="0" y="460857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5554980"/>
            <a:ext cx="5486400" cy="685800"/>
            <a:chOff x="0" y="0"/>
            <a:chExt cx="73152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0" cy="914400"/>
            </a:xfrm>
            <a:custGeom>
              <a:avLst/>
              <a:gdLst/>
              <a:ahLst/>
              <a:cxnLst/>
              <a:rect r="r" b="b" t="t" l="l"/>
              <a:pathLst>
                <a:path h="9144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3152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1600" y="6309360"/>
            <a:ext cx="8229600" cy="548640"/>
            <a:chOff x="0" y="0"/>
            <a:chExt cx="109728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 a deep learning model for: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1600" y="6995160"/>
            <a:ext cx="7680960" cy="1508760"/>
            <a:chOff x="0" y="0"/>
            <a:chExt cx="10241280" cy="2011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2412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131552" y="0"/>
                  </a:lnTo>
                  <a:cubicBezTo>
                    <a:pt x="10192131" y="0"/>
                    <a:pt x="10241280" y="49149"/>
                    <a:pt x="10241280" y="109728"/>
                  </a:cubicBezTo>
                  <a:lnTo>
                    <a:pt x="10241280" y="1901952"/>
                  </a:lnTo>
                  <a:cubicBezTo>
                    <a:pt x="10241280" y="1962531"/>
                    <a:pt x="10192131" y="2011680"/>
                    <a:pt x="10131552" y="2011680"/>
                  </a:cubicBezTo>
                  <a:lnTo>
                    <a:pt x="109728" y="2011680"/>
                  </a:lnTo>
                  <a:cubicBezTo>
                    <a:pt x="49149" y="2011680"/>
                    <a:pt x="0" y="1962531"/>
                    <a:pt x="0" y="1901952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83080" y="7338060"/>
            <a:ext cx="822960" cy="822960"/>
            <a:chOff x="0" y="0"/>
            <a:chExt cx="1097280" cy="109728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880360" y="6995160"/>
            <a:ext cx="5897880" cy="1508760"/>
            <a:chOff x="0" y="0"/>
            <a:chExt cx="7863840" cy="2011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638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86384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Segmentation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01200" y="6995160"/>
            <a:ext cx="7680960" cy="1508760"/>
            <a:chOff x="0" y="0"/>
            <a:chExt cx="10241280" cy="2011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2412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131552" y="0"/>
                  </a:lnTo>
                  <a:cubicBezTo>
                    <a:pt x="10192131" y="0"/>
                    <a:pt x="10241280" y="49149"/>
                    <a:pt x="10241280" y="109728"/>
                  </a:cubicBezTo>
                  <a:lnTo>
                    <a:pt x="10241280" y="1901952"/>
                  </a:lnTo>
                  <a:cubicBezTo>
                    <a:pt x="10241280" y="1962531"/>
                    <a:pt x="10192131" y="2011680"/>
                    <a:pt x="10131552" y="2011680"/>
                  </a:cubicBezTo>
                  <a:lnTo>
                    <a:pt x="109728" y="2011680"/>
                  </a:lnTo>
                  <a:cubicBezTo>
                    <a:pt x="49149" y="2011680"/>
                    <a:pt x="0" y="1962531"/>
                    <a:pt x="0" y="1901952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12680" y="7338060"/>
            <a:ext cx="822960" cy="822960"/>
            <a:chOff x="0" y="0"/>
            <a:chExt cx="1097280" cy="109728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109960" y="6995160"/>
            <a:ext cx="5897880" cy="1508760"/>
            <a:chOff x="0" y="0"/>
            <a:chExt cx="7863840" cy="2011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8638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786384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Periodontitis Grading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8206" y="2312922"/>
            <a:ext cx="5059324" cy="2154218"/>
            <a:chOff x="0" y="0"/>
            <a:chExt cx="8778958" cy="3738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9887" y="34301"/>
              <a:ext cx="8638320" cy="3672181"/>
            </a:xfrm>
            <a:custGeom>
              <a:avLst/>
              <a:gdLst/>
              <a:ahLst/>
              <a:cxnLst/>
              <a:rect r="r" b="b" t="t" l="l"/>
              <a:pathLst>
                <a:path h="3672181" w="8638320">
                  <a:moveTo>
                    <a:pt x="123466" y="1"/>
                  </a:moveTo>
                  <a:cubicBezTo>
                    <a:pt x="4717452" y="45450"/>
                    <a:pt x="5583821" y="76321"/>
                    <a:pt x="6381401" y="85754"/>
                  </a:cubicBezTo>
                  <a:cubicBezTo>
                    <a:pt x="7059995" y="93472"/>
                    <a:pt x="8006308" y="58313"/>
                    <a:pt x="8266590" y="90042"/>
                  </a:cubicBezTo>
                  <a:cubicBezTo>
                    <a:pt x="8340956" y="98617"/>
                    <a:pt x="8363266" y="95187"/>
                    <a:pt x="8400450" y="124343"/>
                  </a:cubicBezTo>
                  <a:cubicBezTo>
                    <a:pt x="8582648" y="266695"/>
                    <a:pt x="8387436" y="1524702"/>
                    <a:pt x="8402309" y="1842849"/>
                  </a:cubicBezTo>
                  <a:cubicBezTo>
                    <a:pt x="8407886" y="1964619"/>
                    <a:pt x="8411605" y="1992918"/>
                    <a:pt x="8426478" y="2095822"/>
                  </a:cubicBezTo>
                  <a:cubicBezTo>
                    <a:pt x="8450647" y="2260470"/>
                    <a:pt x="8525014" y="2517731"/>
                    <a:pt x="8552901" y="2731258"/>
                  </a:cubicBezTo>
                  <a:cubicBezTo>
                    <a:pt x="8582648" y="2948215"/>
                    <a:pt x="8582648" y="3236347"/>
                    <a:pt x="8601239" y="3388132"/>
                  </a:cubicBezTo>
                  <a:cubicBezTo>
                    <a:pt x="8610535" y="3467883"/>
                    <a:pt x="8653296" y="3521907"/>
                    <a:pt x="8632845" y="3571644"/>
                  </a:cubicBezTo>
                  <a:cubicBezTo>
                    <a:pt x="8619831" y="3608519"/>
                    <a:pt x="8591943" y="3647108"/>
                    <a:pt x="8539887" y="3663401"/>
                  </a:cubicBezTo>
                  <a:cubicBezTo>
                    <a:pt x="8489690" y="3678837"/>
                    <a:pt x="8417183" y="3669404"/>
                    <a:pt x="8329802" y="3668546"/>
                  </a:cubicBezTo>
                  <a:cubicBezTo>
                    <a:pt x="8182928" y="3666831"/>
                    <a:pt x="7983998" y="3655683"/>
                    <a:pt x="7744166" y="3641105"/>
                  </a:cubicBezTo>
                  <a:cubicBezTo>
                    <a:pt x="7357460" y="3618809"/>
                    <a:pt x="6591487" y="3551921"/>
                    <a:pt x="6236387" y="3534770"/>
                  </a:cubicBezTo>
                  <a:cubicBezTo>
                    <a:pt x="6044893" y="3525338"/>
                    <a:pt x="5992837" y="3526195"/>
                    <a:pt x="5792047" y="3522765"/>
                  </a:cubicBezTo>
                  <a:cubicBezTo>
                    <a:pt x="5377454" y="3515904"/>
                    <a:pt x="4479480" y="3508187"/>
                    <a:pt x="3875252" y="3512474"/>
                  </a:cubicBezTo>
                  <a:cubicBezTo>
                    <a:pt x="3334237" y="3516762"/>
                    <a:pt x="2791362" y="3537343"/>
                    <a:pt x="2335867" y="3542488"/>
                  </a:cubicBezTo>
                  <a:cubicBezTo>
                    <a:pt x="1973331" y="3547633"/>
                    <a:pt x="1694457" y="3550206"/>
                    <a:pt x="1356089" y="3548491"/>
                  </a:cubicBezTo>
                  <a:cubicBezTo>
                    <a:pt x="993553" y="3546776"/>
                    <a:pt x="413495" y="3546776"/>
                    <a:pt x="225720" y="3531340"/>
                  </a:cubicBezTo>
                  <a:cubicBezTo>
                    <a:pt x="160649" y="3526195"/>
                    <a:pt x="129043" y="3521907"/>
                    <a:pt x="97438" y="3512474"/>
                  </a:cubicBezTo>
                  <a:cubicBezTo>
                    <a:pt x="71409" y="3504756"/>
                    <a:pt x="47240" y="3496181"/>
                    <a:pt x="37944" y="3484176"/>
                  </a:cubicBezTo>
                  <a:cubicBezTo>
                    <a:pt x="26789" y="3470455"/>
                    <a:pt x="28649" y="3445586"/>
                    <a:pt x="47240" y="3432723"/>
                  </a:cubicBezTo>
                  <a:cubicBezTo>
                    <a:pt x="63973" y="3419860"/>
                    <a:pt x="116029" y="3409570"/>
                    <a:pt x="143917" y="3406997"/>
                  </a:cubicBezTo>
                  <a:cubicBezTo>
                    <a:pt x="164367" y="3405282"/>
                    <a:pt x="182959" y="3406997"/>
                    <a:pt x="199691" y="3412143"/>
                  </a:cubicBezTo>
                  <a:cubicBezTo>
                    <a:pt x="225720" y="3420718"/>
                    <a:pt x="259185" y="3451589"/>
                    <a:pt x="264762" y="3465310"/>
                  </a:cubicBezTo>
                  <a:cubicBezTo>
                    <a:pt x="270340" y="3473028"/>
                    <a:pt x="270340" y="3477315"/>
                    <a:pt x="262903" y="3484176"/>
                  </a:cubicBezTo>
                  <a:cubicBezTo>
                    <a:pt x="253607" y="3495324"/>
                    <a:pt x="214565" y="3515904"/>
                    <a:pt x="182959" y="3519335"/>
                  </a:cubicBezTo>
                  <a:cubicBezTo>
                    <a:pt x="151353" y="3523623"/>
                    <a:pt x="99297" y="3518477"/>
                    <a:pt x="73269" y="3509044"/>
                  </a:cubicBezTo>
                  <a:cubicBezTo>
                    <a:pt x="49099" y="3499612"/>
                    <a:pt x="41663" y="3485891"/>
                    <a:pt x="30508" y="3461879"/>
                  </a:cubicBezTo>
                  <a:cubicBezTo>
                    <a:pt x="2620" y="3393277"/>
                    <a:pt x="45381" y="3230344"/>
                    <a:pt x="49099" y="3057122"/>
                  </a:cubicBezTo>
                  <a:cubicBezTo>
                    <a:pt x="56536" y="2746693"/>
                    <a:pt x="54677" y="2195297"/>
                    <a:pt x="47240" y="1756237"/>
                  </a:cubicBezTo>
                  <a:cubicBezTo>
                    <a:pt x="39804" y="1306030"/>
                    <a:pt x="-15971" y="675740"/>
                    <a:pt x="4480" y="389323"/>
                  </a:cubicBezTo>
                  <a:cubicBezTo>
                    <a:pt x="11916" y="258977"/>
                    <a:pt x="69550" y="159502"/>
                    <a:pt x="50959" y="104620"/>
                  </a:cubicBezTo>
                  <a:cubicBezTo>
                    <a:pt x="43522" y="80609"/>
                    <a:pt x="10057" y="69461"/>
                    <a:pt x="10057" y="54883"/>
                  </a:cubicBezTo>
                  <a:cubicBezTo>
                    <a:pt x="11916" y="42877"/>
                    <a:pt x="24930" y="30014"/>
                    <a:pt x="43522" y="22296"/>
                  </a:cubicBezTo>
                  <a:cubicBezTo>
                    <a:pt x="67691" y="12864"/>
                    <a:pt x="121607" y="4288"/>
                    <a:pt x="153212" y="6003"/>
                  </a:cubicBezTo>
                  <a:cubicBezTo>
                    <a:pt x="179241" y="6861"/>
                    <a:pt x="205269" y="15436"/>
                    <a:pt x="222001" y="23154"/>
                  </a:cubicBezTo>
                  <a:cubicBezTo>
                    <a:pt x="238734" y="31729"/>
                    <a:pt x="251748" y="44592"/>
                    <a:pt x="253607" y="56598"/>
                  </a:cubicBezTo>
                  <a:cubicBezTo>
                    <a:pt x="257325" y="67746"/>
                    <a:pt x="251748" y="81467"/>
                    <a:pt x="236875" y="91757"/>
                  </a:cubicBezTo>
                  <a:cubicBezTo>
                    <a:pt x="216424" y="102905"/>
                    <a:pt x="169945" y="117483"/>
                    <a:pt x="136480" y="118341"/>
                  </a:cubicBezTo>
                  <a:cubicBezTo>
                    <a:pt x="103015" y="119198"/>
                    <a:pt x="54677" y="106335"/>
                    <a:pt x="34226" y="95187"/>
                  </a:cubicBezTo>
                  <a:cubicBezTo>
                    <a:pt x="15635" y="85754"/>
                    <a:pt x="6339" y="72891"/>
                    <a:pt x="10057" y="60886"/>
                  </a:cubicBezTo>
                  <a:cubicBezTo>
                    <a:pt x="11916" y="46308"/>
                    <a:pt x="39804" y="23154"/>
                    <a:pt x="63973" y="14579"/>
                  </a:cubicBezTo>
                  <a:cubicBezTo>
                    <a:pt x="86283" y="6861"/>
                    <a:pt x="116029" y="4288"/>
                    <a:pt x="140198" y="5146"/>
                  </a:cubicBezTo>
                  <a:cubicBezTo>
                    <a:pt x="164367" y="6003"/>
                    <a:pt x="194114" y="10291"/>
                    <a:pt x="212706" y="18866"/>
                  </a:cubicBezTo>
                  <a:cubicBezTo>
                    <a:pt x="236875" y="30014"/>
                    <a:pt x="251748" y="53168"/>
                    <a:pt x="262903" y="71176"/>
                  </a:cubicBezTo>
                  <a:cubicBezTo>
                    <a:pt x="274058" y="89184"/>
                    <a:pt x="277776" y="101190"/>
                    <a:pt x="279635" y="127774"/>
                  </a:cubicBezTo>
                  <a:cubicBezTo>
                    <a:pt x="285213" y="192946"/>
                    <a:pt x="249889" y="292421"/>
                    <a:pt x="240593" y="457068"/>
                  </a:cubicBezTo>
                  <a:cubicBezTo>
                    <a:pt x="212706" y="956155"/>
                    <a:pt x="404199" y="3257786"/>
                    <a:pt x="270340" y="3471313"/>
                  </a:cubicBezTo>
                  <a:cubicBezTo>
                    <a:pt x="251748" y="3499612"/>
                    <a:pt x="233156" y="3506472"/>
                    <a:pt x="208987" y="3514189"/>
                  </a:cubicBezTo>
                  <a:cubicBezTo>
                    <a:pt x="192255" y="3520192"/>
                    <a:pt x="173663" y="3521908"/>
                    <a:pt x="155072" y="3521908"/>
                  </a:cubicBezTo>
                  <a:cubicBezTo>
                    <a:pt x="129043" y="3521050"/>
                    <a:pt x="93719" y="3516762"/>
                    <a:pt x="73269" y="3509044"/>
                  </a:cubicBezTo>
                  <a:cubicBezTo>
                    <a:pt x="52818" y="3501326"/>
                    <a:pt x="37944" y="3484176"/>
                    <a:pt x="32367" y="3474743"/>
                  </a:cubicBezTo>
                  <a:cubicBezTo>
                    <a:pt x="28649" y="3469598"/>
                    <a:pt x="28649" y="3461880"/>
                    <a:pt x="30508" y="3461880"/>
                  </a:cubicBezTo>
                  <a:cubicBezTo>
                    <a:pt x="37944" y="3461022"/>
                    <a:pt x="101156" y="3511617"/>
                    <a:pt x="97438" y="3512474"/>
                  </a:cubicBezTo>
                  <a:cubicBezTo>
                    <a:pt x="93719" y="3513332"/>
                    <a:pt x="49099" y="3495324"/>
                    <a:pt x="37944" y="3484176"/>
                  </a:cubicBezTo>
                  <a:cubicBezTo>
                    <a:pt x="26789" y="3473028"/>
                    <a:pt x="28649" y="3455877"/>
                    <a:pt x="34226" y="3444729"/>
                  </a:cubicBezTo>
                  <a:cubicBezTo>
                    <a:pt x="39804" y="3436154"/>
                    <a:pt x="50959" y="3428436"/>
                    <a:pt x="65832" y="3422433"/>
                  </a:cubicBezTo>
                  <a:cubicBezTo>
                    <a:pt x="84423" y="3414715"/>
                    <a:pt x="106733" y="3409570"/>
                    <a:pt x="143917" y="3406997"/>
                  </a:cubicBezTo>
                  <a:cubicBezTo>
                    <a:pt x="225720" y="3401852"/>
                    <a:pt x="398622" y="3427578"/>
                    <a:pt x="552932" y="3434438"/>
                  </a:cubicBezTo>
                  <a:cubicBezTo>
                    <a:pt x="753721" y="3443014"/>
                    <a:pt x="997271" y="3444729"/>
                    <a:pt x="1244540" y="3447302"/>
                  </a:cubicBezTo>
                  <a:cubicBezTo>
                    <a:pt x="1532710" y="3450732"/>
                    <a:pt x="1817161" y="3452447"/>
                    <a:pt x="2174120" y="3450732"/>
                  </a:cubicBezTo>
                  <a:cubicBezTo>
                    <a:pt x="2655643" y="3448159"/>
                    <a:pt x="3469955" y="3429293"/>
                    <a:pt x="3875252" y="3426721"/>
                  </a:cubicBezTo>
                  <a:cubicBezTo>
                    <a:pt x="4102070" y="3425006"/>
                    <a:pt x="4174577" y="3426721"/>
                    <a:pt x="4403254" y="3428436"/>
                  </a:cubicBezTo>
                  <a:cubicBezTo>
                    <a:pt x="4834580" y="3431008"/>
                    <a:pt x="5697230" y="3428436"/>
                    <a:pt x="6258697" y="3449874"/>
                  </a:cubicBezTo>
                  <a:cubicBezTo>
                    <a:pt x="6729065" y="3468740"/>
                    <a:pt x="7162248" y="3515047"/>
                    <a:pt x="7547095" y="3535628"/>
                  </a:cubicBezTo>
                  <a:cubicBezTo>
                    <a:pt x="7863153" y="3552778"/>
                    <a:pt x="8251717" y="3638532"/>
                    <a:pt x="8406027" y="3571644"/>
                  </a:cubicBezTo>
                  <a:cubicBezTo>
                    <a:pt x="8601240" y="3487606"/>
                    <a:pt x="8391154" y="3163457"/>
                    <a:pt x="8368844" y="2943070"/>
                  </a:cubicBezTo>
                  <a:cubicBezTo>
                    <a:pt x="8344675" y="2699529"/>
                    <a:pt x="8279604" y="2392530"/>
                    <a:pt x="8257295" y="2172143"/>
                  </a:cubicBezTo>
                  <a:cubicBezTo>
                    <a:pt x="8240562" y="2008353"/>
                    <a:pt x="8236844" y="1926887"/>
                    <a:pt x="8229407" y="1740802"/>
                  </a:cubicBezTo>
                  <a:cubicBezTo>
                    <a:pt x="8216393" y="1397787"/>
                    <a:pt x="8143886" y="486224"/>
                    <a:pt x="8203379" y="281273"/>
                  </a:cubicBezTo>
                  <a:cubicBezTo>
                    <a:pt x="8220112" y="224675"/>
                    <a:pt x="8311211" y="203237"/>
                    <a:pt x="8266591" y="175796"/>
                  </a:cubicBezTo>
                  <a:cubicBezTo>
                    <a:pt x="8117858" y="83182"/>
                    <a:pt x="6357232" y="165505"/>
                    <a:pt x="5628442" y="152642"/>
                  </a:cubicBezTo>
                  <a:cubicBezTo>
                    <a:pt x="5113454" y="143209"/>
                    <a:pt x="4784382" y="126059"/>
                    <a:pt x="4310296" y="116626"/>
                  </a:cubicBezTo>
                  <a:cubicBezTo>
                    <a:pt x="3756266" y="105478"/>
                    <a:pt x="3150180" y="98617"/>
                    <a:pt x="2506910" y="93472"/>
                  </a:cubicBezTo>
                  <a:cubicBezTo>
                    <a:pt x="1768823" y="86612"/>
                    <a:pt x="340988" y="102047"/>
                    <a:pt x="123466" y="83182"/>
                  </a:cubicBezTo>
                  <a:cubicBezTo>
                    <a:pt x="88142" y="80609"/>
                    <a:pt x="78846" y="78894"/>
                    <a:pt x="63973" y="72891"/>
                  </a:cubicBezTo>
                  <a:cubicBezTo>
                    <a:pt x="49100" y="66888"/>
                    <a:pt x="36086" y="55740"/>
                    <a:pt x="34226" y="46308"/>
                  </a:cubicBezTo>
                  <a:cubicBezTo>
                    <a:pt x="30508" y="37732"/>
                    <a:pt x="36086" y="25727"/>
                    <a:pt x="49100" y="18009"/>
                  </a:cubicBezTo>
                  <a:cubicBezTo>
                    <a:pt x="63973" y="9433"/>
                    <a:pt x="123466" y="0"/>
                    <a:pt x="123466" y="0"/>
                  </a:cubicBezTo>
                </a:path>
              </a:pathLst>
            </a:custGeom>
            <a:solidFill>
              <a:srgbClr val="B9C5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516191" y="1847850"/>
            <a:ext cx="4387705" cy="4050403"/>
            <a:chOff x="0" y="0"/>
            <a:chExt cx="5996940" cy="5535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7740" y="50800"/>
              <a:ext cx="5900870" cy="5438444"/>
            </a:xfrm>
            <a:custGeom>
              <a:avLst/>
              <a:gdLst/>
              <a:ahLst/>
              <a:cxnLst/>
              <a:rect r="r" b="b" t="t" l="l"/>
              <a:pathLst>
                <a:path h="5438444" w="5900870">
                  <a:moveTo>
                    <a:pt x="84340" y="0"/>
                  </a:moveTo>
                  <a:cubicBezTo>
                    <a:pt x="3222510" y="67310"/>
                    <a:pt x="3814330" y="113030"/>
                    <a:pt x="4359160" y="127000"/>
                  </a:cubicBezTo>
                  <a:cubicBezTo>
                    <a:pt x="4822710" y="138430"/>
                    <a:pt x="5469140" y="86360"/>
                    <a:pt x="5646940" y="133350"/>
                  </a:cubicBezTo>
                  <a:cubicBezTo>
                    <a:pt x="5697740" y="146050"/>
                    <a:pt x="5712980" y="140970"/>
                    <a:pt x="5738380" y="184150"/>
                  </a:cubicBezTo>
                  <a:cubicBezTo>
                    <a:pt x="5862840" y="394970"/>
                    <a:pt x="5729490" y="2258060"/>
                    <a:pt x="5739650" y="2729230"/>
                  </a:cubicBezTo>
                  <a:cubicBezTo>
                    <a:pt x="5743460" y="2909570"/>
                    <a:pt x="5746000" y="2951480"/>
                    <a:pt x="5756160" y="3103880"/>
                  </a:cubicBezTo>
                  <a:cubicBezTo>
                    <a:pt x="5772670" y="3347720"/>
                    <a:pt x="5823470" y="3728720"/>
                    <a:pt x="5842520" y="4044950"/>
                  </a:cubicBezTo>
                  <a:cubicBezTo>
                    <a:pt x="5862840" y="4366260"/>
                    <a:pt x="5862840" y="4792980"/>
                    <a:pt x="5875540" y="5017770"/>
                  </a:cubicBezTo>
                  <a:cubicBezTo>
                    <a:pt x="5881890" y="5135880"/>
                    <a:pt x="5911100" y="5215890"/>
                    <a:pt x="5897130" y="5289550"/>
                  </a:cubicBezTo>
                  <a:cubicBezTo>
                    <a:pt x="5888240" y="5344160"/>
                    <a:pt x="5869190" y="5401310"/>
                    <a:pt x="5833630" y="5425440"/>
                  </a:cubicBezTo>
                  <a:cubicBezTo>
                    <a:pt x="5799340" y="5448300"/>
                    <a:pt x="5749810" y="5434330"/>
                    <a:pt x="5690120" y="5433060"/>
                  </a:cubicBezTo>
                  <a:cubicBezTo>
                    <a:pt x="5589790" y="5430520"/>
                    <a:pt x="5453900" y="5414010"/>
                    <a:pt x="5290070" y="5392420"/>
                  </a:cubicBezTo>
                  <a:cubicBezTo>
                    <a:pt x="5025910" y="5359400"/>
                    <a:pt x="4502670" y="5260340"/>
                    <a:pt x="4260100" y="5234940"/>
                  </a:cubicBezTo>
                  <a:cubicBezTo>
                    <a:pt x="4129290" y="5220970"/>
                    <a:pt x="4093730" y="5222240"/>
                    <a:pt x="3956570" y="5217160"/>
                  </a:cubicBezTo>
                  <a:cubicBezTo>
                    <a:pt x="3673360" y="5207000"/>
                    <a:pt x="3059950" y="5195570"/>
                    <a:pt x="2647200" y="5201920"/>
                  </a:cubicBezTo>
                  <a:cubicBezTo>
                    <a:pt x="2277630" y="5208270"/>
                    <a:pt x="1906790" y="5238750"/>
                    <a:pt x="1595640" y="5246370"/>
                  </a:cubicBezTo>
                  <a:cubicBezTo>
                    <a:pt x="1347990" y="5253990"/>
                    <a:pt x="1157490" y="5257800"/>
                    <a:pt x="926350" y="5255260"/>
                  </a:cubicBezTo>
                  <a:cubicBezTo>
                    <a:pt x="678700" y="5252720"/>
                    <a:pt x="282460" y="5252720"/>
                    <a:pt x="154190" y="5229860"/>
                  </a:cubicBezTo>
                  <a:cubicBezTo>
                    <a:pt x="109740" y="5222240"/>
                    <a:pt x="88150" y="5215890"/>
                    <a:pt x="66560" y="5201920"/>
                  </a:cubicBezTo>
                  <a:cubicBezTo>
                    <a:pt x="48780" y="5190490"/>
                    <a:pt x="32270" y="5177790"/>
                    <a:pt x="25920" y="5160010"/>
                  </a:cubicBezTo>
                  <a:cubicBezTo>
                    <a:pt x="18300" y="5139690"/>
                    <a:pt x="19570" y="5102860"/>
                    <a:pt x="32270" y="5083810"/>
                  </a:cubicBezTo>
                  <a:cubicBezTo>
                    <a:pt x="43700" y="5064760"/>
                    <a:pt x="79260" y="5049520"/>
                    <a:pt x="98310" y="5045710"/>
                  </a:cubicBezTo>
                  <a:cubicBezTo>
                    <a:pt x="112280" y="5043170"/>
                    <a:pt x="124980" y="5045710"/>
                    <a:pt x="136410" y="5053330"/>
                  </a:cubicBezTo>
                  <a:cubicBezTo>
                    <a:pt x="154190" y="5066030"/>
                    <a:pt x="177050" y="5111750"/>
                    <a:pt x="180860" y="5132070"/>
                  </a:cubicBezTo>
                  <a:cubicBezTo>
                    <a:pt x="184670" y="5143500"/>
                    <a:pt x="184670" y="5149850"/>
                    <a:pt x="179590" y="5160010"/>
                  </a:cubicBezTo>
                  <a:cubicBezTo>
                    <a:pt x="173240" y="5176520"/>
                    <a:pt x="146570" y="5207000"/>
                    <a:pt x="124980" y="5212080"/>
                  </a:cubicBezTo>
                  <a:cubicBezTo>
                    <a:pt x="103390" y="5218430"/>
                    <a:pt x="67830" y="5210810"/>
                    <a:pt x="50050" y="5196840"/>
                  </a:cubicBezTo>
                  <a:cubicBezTo>
                    <a:pt x="33540" y="5182870"/>
                    <a:pt x="28460" y="5162550"/>
                    <a:pt x="20840" y="5126990"/>
                  </a:cubicBezTo>
                  <a:cubicBezTo>
                    <a:pt x="1790" y="5025390"/>
                    <a:pt x="31000" y="4784090"/>
                    <a:pt x="33540" y="4527550"/>
                  </a:cubicBezTo>
                  <a:cubicBezTo>
                    <a:pt x="38620" y="4067810"/>
                    <a:pt x="37350" y="3251200"/>
                    <a:pt x="32270" y="2600960"/>
                  </a:cubicBezTo>
                  <a:cubicBezTo>
                    <a:pt x="27190" y="1934210"/>
                    <a:pt x="-10910" y="1000760"/>
                    <a:pt x="3060" y="576580"/>
                  </a:cubicBezTo>
                  <a:cubicBezTo>
                    <a:pt x="8140" y="383540"/>
                    <a:pt x="47510" y="236220"/>
                    <a:pt x="34810" y="154940"/>
                  </a:cubicBezTo>
                  <a:cubicBezTo>
                    <a:pt x="29730" y="119380"/>
                    <a:pt x="6870" y="102870"/>
                    <a:pt x="6870" y="81280"/>
                  </a:cubicBezTo>
                  <a:cubicBezTo>
                    <a:pt x="8140" y="63500"/>
                    <a:pt x="17030" y="44450"/>
                    <a:pt x="29730" y="33020"/>
                  </a:cubicBezTo>
                  <a:cubicBezTo>
                    <a:pt x="46240" y="19050"/>
                    <a:pt x="83070" y="6350"/>
                    <a:pt x="104660" y="8890"/>
                  </a:cubicBezTo>
                  <a:cubicBezTo>
                    <a:pt x="122440" y="10160"/>
                    <a:pt x="140220" y="22860"/>
                    <a:pt x="151650" y="34290"/>
                  </a:cubicBezTo>
                  <a:cubicBezTo>
                    <a:pt x="163080" y="46990"/>
                    <a:pt x="171970" y="66040"/>
                    <a:pt x="173240" y="83820"/>
                  </a:cubicBezTo>
                  <a:cubicBezTo>
                    <a:pt x="175780" y="100330"/>
                    <a:pt x="171970" y="120650"/>
                    <a:pt x="161810" y="135890"/>
                  </a:cubicBezTo>
                  <a:cubicBezTo>
                    <a:pt x="147840" y="152400"/>
                    <a:pt x="116090" y="173990"/>
                    <a:pt x="93230" y="175260"/>
                  </a:cubicBezTo>
                  <a:cubicBezTo>
                    <a:pt x="70370" y="176530"/>
                    <a:pt x="37350" y="157480"/>
                    <a:pt x="23380" y="140970"/>
                  </a:cubicBezTo>
                  <a:cubicBezTo>
                    <a:pt x="10680" y="127000"/>
                    <a:pt x="4330" y="107950"/>
                    <a:pt x="6870" y="90170"/>
                  </a:cubicBezTo>
                  <a:cubicBezTo>
                    <a:pt x="8140" y="68580"/>
                    <a:pt x="27190" y="34290"/>
                    <a:pt x="43700" y="21590"/>
                  </a:cubicBezTo>
                  <a:cubicBezTo>
                    <a:pt x="58940" y="10160"/>
                    <a:pt x="79260" y="6350"/>
                    <a:pt x="95770" y="7620"/>
                  </a:cubicBezTo>
                  <a:cubicBezTo>
                    <a:pt x="112280" y="8890"/>
                    <a:pt x="132600" y="15240"/>
                    <a:pt x="145300" y="27940"/>
                  </a:cubicBezTo>
                  <a:cubicBezTo>
                    <a:pt x="161810" y="44450"/>
                    <a:pt x="171970" y="78740"/>
                    <a:pt x="179590" y="105410"/>
                  </a:cubicBezTo>
                  <a:cubicBezTo>
                    <a:pt x="187210" y="132080"/>
                    <a:pt x="189750" y="149860"/>
                    <a:pt x="191020" y="189230"/>
                  </a:cubicBezTo>
                  <a:cubicBezTo>
                    <a:pt x="194830" y="285750"/>
                    <a:pt x="170700" y="433070"/>
                    <a:pt x="164350" y="676910"/>
                  </a:cubicBezTo>
                  <a:cubicBezTo>
                    <a:pt x="145300" y="1416050"/>
                    <a:pt x="276110" y="4824730"/>
                    <a:pt x="184670" y="5140960"/>
                  </a:cubicBezTo>
                  <a:cubicBezTo>
                    <a:pt x="171970" y="5182870"/>
                    <a:pt x="159270" y="5193030"/>
                    <a:pt x="142760" y="5204460"/>
                  </a:cubicBezTo>
                  <a:cubicBezTo>
                    <a:pt x="131330" y="5213350"/>
                    <a:pt x="118630" y="5215890"/>
                    <a:pt x="105930" y="5215890"/>
                  </a:cubicBezTo>
                  <a:cubicBezTo>
                    <a:pt x="88150" y="5214620"/>
                    <a:pt x="64020" y="5208270"/>
                    <a:pt x="50050" y="5196840"/>
                  </a:cubicBezTo>
                  <a:cubicBezTo>
                    <a:pt x="36080" y="5185410"/>
                    <a:pt x="25920" y="5160010"/>
                    <a:pt x="22110" y="5146040"/>
                  </a:cubicBezTo>
                  <a:cubicBezTo>
                    <a:pt x="19570" y="5138420"/>
                    <a:pt x="19570" y="5126990"/>
                    <a:pt x="20840" y="5126990"/>
                  </a:cubicBezTo>
                  <a:cubicBezTo>
                    <a:pt x="25920" y="5125720"/>
                    <a:pt x="69100" y="5200650"/>
                    <a:pt x="66560" y="5201920"/>
                  </a:cubicBezTo>
                  <a:cubicBezTo>
                    <a:pt x="64020" y="5203190"/>
                    <a:pt x="33540" y="5176520"/>
                    <a:pt x="25920" y="5160010"/>
                  </a:cubicBezTo>
                  <a:cubicBezTo>
                    <a:pt x="18300" y="5143500"/>
                    <a:pt x="19570" y="5118100"/>
                    <a:pt x="23380" y="5101590"/>
                  </a:cubicBezTo>
                  <a:cubicBezTo>
                    <a:pt x="27190" y="5088890"/>
                    <a:pt x="34810" y="5077460"/>
                    <a:pt x="44970" y="5068570"/>
                  </a:cubicBezTo>
                  <a:cubicBezTo>
                    <a:pt x="57670" y="5057140"/>
                    <a:pt x="72910" y="5049520"/>
                    <a:pt x="98310" y="5045710"/>
                  </a:cubicBezTo>
                  <a:cubicBezTo>
                    <a:pt x="154190" y="5038090"/>
                    <a:pt x="272300" y="5076190"/>
                    <a:pt x="377710" y="5086350"/>
                  </a:cubicBezTo>
                  <a:cubicBezTo>
                    <a:pt x="514870" y="5099050"/>
                    <a:pt x="681240" y="5101590"/>
                    <a:pt x="850150" y="5105400"/>
                  </a:cubicBezTo>
                  <a:cubicBezTo>
                    <a:pt x="1047000" y="5110480"/>
                    <a:pt x="1241310" y="5113020"/>
                    <a:pt x="1485150" y="5110480"/>
                  </a:cubicBezTo>
                  <a:cubicBezTo>
                    <a:pt x="1814080" y="5106670"/>
                    <a:pt x="2370340" y="5078730"/>
                    <a:pt x="2647200" y="5074920"/>
                  </a:cubicBezTo>
                  <a:cubicBezTo>
                    <a:pt x="2802140" y="5072380"/>
                    <a:pt x="2851670" y="5074920"/>
                    <a:pt x="3007880" y="5077460"/>
                  </a:cubicBezTo>
                  <a:cubicBezTo>
                    <a:pt x="3302520" y="5081270"/>
                    <a:pt x="3891800" y="5077460"/>
                    <a:pt x="4275340" y="5109210"/>
                  </a:cubicBezTo>
                  <a:cubicBezTo>
                    <a:pt x="4596650" y="5137150"/>
                    <a:pt x="4892560" y="5205730"/>
                    <a:pt x="5155450" y="5236210"/>
                  </a:cubicBezTo>
                  <a:cubicBezTo>
                    <a:pt x="5371350" y="5261610"/>
                    <a:pt x="5636780" y="5388610"/>
                    <a:pt x="5742190" y="5289550"/>
                  </a:cubicBezTo>
                  <a:cubicBezTo>
                    <a:pt x="5875540" y="5165090"/>
                    <a:pt x="5732030" y="4685030"/>
                    <a:pt x="5716790" y="4358640"/>
                  </a:cubicBezTo>
                  <a:cubicBezTo>
                    <a:pt x="5700280" y="3997960"/>
                    <a:pt x="5655830" y="3543300"/>
                    <a:pt x="5640590" y="3216910"/>
                  </a:cubicBezTo>
                  <a:cubicBezTo>
                    <a:pt x="5629160" y="2974340"/>
                    <a:pt x="5626620" y="2853690"/>
                    <a:pt x="5621540" y="2578100"/>
                  </a:cubicBezTo>
                  <a:cubicBezTo>
                    <a:pt x="5612650" y="2070100"/>
                    <a:pt x="5563120" y="720090"/>
                    <a:pt x="5603760" y="416560"/>
                  </a:cubicBezTo>
                  <a:cubicBezTo>
                    <a:pt x="5615190" y="332740"/>
                    <a:pt x="5677420" y="300990"/>
                    <a:pt x="5646940" y="260350"/>
                  </a:cubicBezTo>
                  <a:cubicBezTo>
                    <a:pt x="5545340" y="123190"/>
                    <a:pt x="4342650" y="245110"/>
                    <a:pt x="3844810" y="226060"/>
                  </a:cubicBezTo>
                  <a:cubicBezTo>
                    <a:pt x="3493020" y="212090"/>
                    <a:pt x="3268230" y="186690"/>
                    <a:pt x="2944380" y="172720"/>
                  </a:cubicBezTo>
                  <a:cubicBezTo>
                    <a:pt x="2565920" y="156210"/>
                    <a:pt x="2151900" y="146050"/>
                    <a:pt x="1712480" y="138430"/>
                  </a:cubicBezTo>
                  <a:cubicBezTo>
                    <a:pt x="1208290" y="128270"/>
                    <a:pt x="232930" y="151130"/>
                    <a:pt x="84340" y="123190"/>
                  </a:cubicBezTo>
                  <a:cubicBezTo>
                    <a:pt x="60210" y="119380"/>
                    <a:pt x="53860" y="116840"/>
                    <a:pt x="43700" y="107950"/>
                  </a:cubicBezTo>
                  <a:cubicBezTo>
                    <a:pt x="33540" y="99060"/>
                    <a:pt x="24650" y="82550"/>
                    <a:pt x="23380" y="68580"/>
                  </a:cubicBezTo>
                  <a:cubicBezTo>
                    <a:pt x="20840" y="55880"/>
                    <a:pt x="24650" y="38100"/>
                    <a:pt x="33540" y="26670"/>
                  </a:cubicBezTo>
                  <a:cubicBezTo>
                    <a:pt x="43700" y="13970"/>
                    <a:pt x="84340" y="0"/>
                    <a:pt x="84340" y="0"/>
                  </a:cubicBezTo>
                </a:path>
              </a:pathLst>
            </a:custGeom>
            <a:solidFill>
              <a:srgbClr val="A2DF9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58206" y="5705390"/>
            <a:ext cx="4830210" cy="2454672"/>
            <a:chOff x="0" y="0"/>
            <a:chExt cx="10893390" cy="55359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6719" y="50800"/>
              <a:ext cx="10718879" cy="5438444"/>
            </a:xfrm>
            <a:custGeom>
              <a:avLst/>
              <a:gdLst/>
              <a:ahLst/>
              <a:cxnLst/>
              <a:rect r="r" b="b" t="t" l="l"/>
              <a:pathLst>
                <a:path h="5438444" w="10718879">
                  <a:moveTo>
                    <a:pt x="153203" y="0"/>
                  </a:moveTo>
                  <a:cubicBezTo>
                    <a:pt x="5853662" y="67310"/>
                    <a:pt x="6928698" y="113030"/>
                    <a:pt x="7918377" y="127000"/>
                  </a:cubicBezTo>
                  <a:cubicBezTo>
                    <a:pt x="8760412" y="138430"/>
                    <a:pt x="9934646" y="86360"/>
                    <a:pt x="10257618" y="133350"/>
                  </a:cubicBezTo>
                  <a:cubicBezTo>
                    <a:pt x="10349896" y="146050"/>
                    <a:pt x="10377579" y="140970"/>
                    <a:pt x="10423719" y="184150"/>
                  </a:cubicBezTo>
                  <a:cubicBezTo>
                    <a:pt x="10649799" y="394970"/>
                    <a:pt x="10407569" y="2258060"/>
                    <a:pt x="10426025" y="2729230"/>
                  </a:cubicBezTo>
                  <a:cubicBezTo>
                    <a:pt x="10432946" y="2909570"/>
                    <a:pt x="10437560" y="2951480"/>
                    <a:pt x="10456015" y="3103880"/>
                  </a:cubicBezTo>
                  <a:cubicBezTo>
                    <a:pt x="10486006" y="3347720"/>
                    <a:pt x="10578284" y="3728720"/>
                    <a:pt x="10612888" y="4044950"/>
                  </a:cubicBezTo>
                  <a:cubicBezTo>
                    <a:pt x="10649799" y="4366260"/>
                    <a:pt x="10649799" y="4792980"/>
                    <a:pt x="10672868" y="5017770"/>
                  </a:cubicBezTo>
                  <a:cubicBezTo>
                    <a:pt x="10684403" y="5135880"/>
                    <a:pt x="10737463" y="5215890"/>
                    <a:pt x="10712086" y="5289550"/>
                  </a:cubicBezTo>
                  <a:cubicBezTo>
                    <a:pt x="10695938" y="5344160"/>
                    <a:pt x="10661333" y="5401310"/>
                    <a:pt x="10596739" y="5425440"/>
                  </a:cubicBezTo>
                  <a:cubicBezTo>
                    <a:pt x="10534451" y="5448300"/>
                    <a:pt x="10444481" y="5434330"/>
                    <a:pt x="10336055" y="5433060"/>
                  </a:cubicBezTo>
                  <a:cubicBezTo>
                    <a:pt x="10153806" y="5430520"/>
                    <a:pt x="9906963" y="5414010"/>
                    <a:pt x="9609367" y="5392420"/>
                  </a:cubicBezTo>
                  <a:cubicBezTo>
                    <a:pt x="9129522" y="5359400"/>
                    <a:pt x="8179062" y="5260340"/>
                    <a:pt x="7738435" y="5234940"/>
                  </a:cubicBezTo>
                  <a:cubicBezTo>
                    <a:pt x="7500820" y="5220970"/>
                    <a:pt x="7436226" y="5222240"/>
                    <a:pt x="7187076" y="5217160"/>
                  </a:cubicBezTo>
                  <a:cubicBezTo>
                    <a:pt x="6672627" y="5207000"/>
                    <a:pt x="5558373" y="5195570"/>
                    <a:pt x="4808617" y="5201920"/>
                  </a:cubicBezTo>
                  <a:cubicBezTo>
                    <a:pt x="4137296" y="5208270"/>
                    <a:pt x="3463668" y="5238750"/>
                    <a:pt x="2898467" y="5246370"/>
                  </a:cubicBezTo>
                  <a:cubicBezTo>
                    <a:pt x="2448613" y="5253990"/>
                    <a:pt x="2102571" y="5257800"/>
                    <a:pt x="1682707" y="5255260"/>
                  </a:cubicBezTo>
                  <a:cubicBezTo>
                    <a:pt x="1232853" y="5252720"/>
                    <a:pt x="513087" y="5252720"/>
                    <a:pt x="280085" y="5229860"/>
                  </a:cubicBezTo>
                  <a:cubicBezTo>
                    <a:pt x="199342" y="5222240"/>
                    <a:pt x="160124" y="5215890"/>
                    <a:pt x="120906" y="5201920"/>
                  </a:cubicBezTo>
                  <a:cubicBezTo>
                    <a:pt x="88609" y="5190490"/>
                    <a:pt x="58619" y="5177790"/>
                    <a:pt x="47084" y="5160010"/>
                  </a:cubicBezTo>
                  <a:cubicBezTo>
                    <a:pt x="33242" y="5139690"/>
                    <a:pt x="35549" y="5102860"/>
                    <a:pt x="58619" y="5083810"/>
                  </a:cubicBezTo>
                  <a:cubicBezTo>
                    <a:pt x="79381" y="5064760"/>
                    <a:pt x="143976" y="5049520"/>
                    <a:pt x="178580" y="5045710"/>
                  </a:cubicBezTo>
                  <a:cubicBezTo>
                    <a:pt x="203956" y="5043170"/>
                    <a:pt x="227026" y="5045710"/>
                    <a:pt x="247788" y="5053330"/>
                  </a:cubicBezTo>
                  <a:cubicBezTo>
                    <a:pt x="280085" y="5066030"/>
                    <a:pt x="321610" y="5111750"/>
                    <a:pt x="328531" y="5132070"/>
                  </a:cubicBezTo>
                  <a:cubicBezTo>
                    <a:pt x="335452" y="5143500"/>
                    <a:pt x="335452" y="5149850"/>
                    <a:pt x="326224" y="5160010"/>
                  </a:cubicBezTo>
                  <a:cubicBezTo>
                    <a:pt x="314689" y="5176520"/>
                    <a:pt x="266244" y="5207000"/>
                    <a:pt x="227026" y="5212080"/>
                  </a:cubicBezTo>
                  <a:cubicBezTo>
                    <a:pt x="187808" y="5218430"/>
                    <a:pt x="123213" y="5210810"/>
                    <a:pt x="90916" y="5196840"/>
                  </a:cubicBezTo>
                  <a:cubicBezTo>
                    <a:pt x="60926" y="5182870"/>
                    <a:pt x="51698" y="5162550"/>
                    <a:pt x="37856" y="5126990"/>
                  </a:cubicBezTo>
                  <a:cubicBezTo>
                    <a:pt x="3252" y="5025390"/>
                    <a:pt x="56312" y="4784090"/>
                    <a:pt x="60926" y="4527550"/>
                  </a:cubicBezTo>
                  <a:cubicBezTo>
                    <a:pt x="70153" y="4067810"/>
                    <a:pt x="67846" y="3251200"/>
                    <a:pt x="58619" y="2600960"/>
                  </a:cubicBezTo>
                  <a:cubicBezTo>
                    <a:pt x="49391" y="1934210"/>
                    <a:pt x="-19817" y="1000760"/>
                    <a:pt x="5559" y="576580"/>
                  </a:cubicBezTo>
                  <a:cubicBezTo>
                    <a:pt x="14787" y="383540"/>
                    <a:pt x="86302" y="236220"/>
                    <a:pt x="63233" y="154940"/>
                  </a:cubicBezTo>
                  <a:cubicBezTo>
                    <a:pt x="54005" y="119380"/>
                    <a:pt x="12480" y="102870"/>
                    <a:pt x="12480" y="81280"/>
                  </a:cubicBezTo>
                  <a:cubicBezTo>
                    <a:pt x="14787" y="63500"/>
                    <a:pt x="30935" y="44450"/>
                    <a:pt x="54005" y="33020"/>
                  </a:cubicBezTo>
                  <a:cubicBezTo>
                    <a:pt x="83995" y="19050"/>
                    <a:pt x="150896" y="6350"/>
                    <a:pt x="190114" y="8890"/>
                  </a:cubicBezTo>
                  <a:cubicBezTo>
                    <a:pt x="222412" y="10160"/>
                    <a:pt x="254709" y="22860"/>
                    <a:pt x="275471" y="34290"/>
                  </a:cubicBezTo>
                  <a:cubicBezTo>
                    <a:pt x="296234" y="46990"/>
                    <a:pt x="312382" y="66040"/>
                    <a:pt x="314689" y="83820"/>
                  </a:cubicBezTo>
                  <a:cubicBezTo>
                    <a:pt x="319303" y="100330"/>
                    <a:pt x="312382" y="120650"/>
                    <a:pt x="293927" y="135890"/>
                  </a:cubicBezTo>
                  <a:cubicBezTo>
                    <a:pt x="268551" y="152400"/>
                    <a:pt x="210877" y="173990"/>
                    <a:pt x="169352" y="175260"/>
                  </a:cubicBezTo>
                  <a:cubicBezTo>
                    <a:pt x="127827" y="176530"/>
                    <a:pt x="67846" y="157480"/>
                    <a:pt x="42470" y="140970"/>
                  </a:cubicBezTo>
                  <a:cubicBezTo>
                    <a:pt x="19401" y="127000"/>
                    <a:pt x="7866" y="107950"/>
                    <a:pt x="12480" y="90170"/>
                  </a:cubicBezTo>
                  <a:cubicBezTo>
                    <a:pt x="14787" y="68580"/>
                    <a:pt x="49391" y="34290"/>
                    <a:pt x="79381" y="21590"/>
                  </a:cubicBezTo>
                  <a:cubicBezTo>
                    <a:pt x="107064" y="10160"/>
                    <a:pt x="143976" y="6350"/>
                    <a:pt x="173966" y="7620"/>
                  </a:cubicBezTo>
                  <a:cubicBezTo>
                    <a:pt x="203956" y="8890"/>
                    <a:pt x="240867" y="15240"/>
                    <a:pt x="263937" y="27940"/>
                  </a:cubicBezTo>
                  <a:cubicBezTo>
                    <a:pt x="293927" y="44450"/>
                    <a:pt x="312382" y="78740"/>
                    <a:pt x="326224" y="105410"/>
                  </a:cubicBezTo>
                  <a:cubicBezTo>
                    <a:pt x="340066" y="132080"/>
                    <a:pt x="344680" y="149860"/>
                    <a:pt x="346987" y="189230"/>
                  </a:cubicBezTo>
                  <a:cubicBezTo>
                    <a:pt x="353907" y="285750"/>
                    <a:pt x="310076" y="433070"/>
                    <a:pt x="298541" y="676910"/>
                  </a:cubicBezTo>
                  <a:cubicBezTo>
                    <a:pt x="263937" y="1416050"/>
                    <a:pt x="501552" y="4824730"/>
                    <a:pt x="335452" y="5140960"/>
                  </a:cubicBezTo>
                  <a:cubicBezTo>
                    <a:pt x="312382" y="5182870"/>
                    <a:pt x="289313" y="5193030"/>
                    <a:pt x="259323" y="5204460"/>
                  </a:cubicBezTo>
                  <a:cubicBezTo>
                    <a:pt x="238560" y="5213350"/>
                    <a:pt x="215491" y="5215890"/>
                    <a:pt x="192421" y="5215890"/>
                  </a:cubicBezTo>
                  <a:cubicBezTo>
                    <a:pt x="160124" y="5214620"/>
                    <a:pt x="116292" y="5208270"/>
                    <a:pt x="90916" y="5196840"/>
                  </a:cubicBezTo>
                  <a:cubicBezTo>
                    <a:pt x="65539" y="5185410"/>
                    <a:pt x="47084" y="5160010"/>
                    <a:pt x="40163" y="5146040"/>
                  </a:cubicBezTo>
                  <a:cubicBezTo>
                    <a:pt x="35549" y="5138420"/>
                    <a:pt x="35549" y="5126990"/>
                    <a:pt x="37856" y="5126990"/>
                  </a:cubicBezTo>
                  <a:cubicBezTo>
                    <a:pt x="47084" y="5125720"/>
                    <a:pt x="125520" y="5200650"/>
                    <a:pt x="120906" y="5201920"/>
                  </a:cubicBezTo>
                  <a:cubicBezTo>
                    <a:pt x="116292" y="5203190"/>
                    <a:pt x="60926" y="5176520"/>
                    <a:pt x="47084" y="5160010"/>
                  </a:cubicBezTo>
                  <a:cubicBezTo>
                    <a:pt x="33242" y="5143500"/>
                    <a:pt x="35549" y="5118100"/>
                    <a:pt x="42470" y="5101590"/>
                  </a:cubicBezTo>
                  <a:cubicBezTo>
                    <a:pt x="49391" y="5088890"/>
                    <a:pt x="63233" y="5077460"/>
                    <a:pt x="81688" y="5068570"/>
                  </a:cubicBezTo>
                  <a:cubicBezTo>
                    <a:pt x="104758" y="5057140"/>
                    <a:pt x="132441" y="5049520"/>
                    <a:pt x="178580" y="5045710"/>
                  </a:cubicBezTo>
                  <a:cubicBezTo>
                    <a:pt x="280085" y="5038090"/>
                    <a:pt x="494631" y="5076190"/>
                    <a:pt x="686107" y="5086350"/>
                  </a:cubicBezTo>
                  <a:cubicBezTo>
                    <a:pt x="935257" y="5099050"/>
                    <a:pt x="1237467" y="5101590"/>
                    <a:pt x="1544291" y="5105400"/>
                  </a:cubicBezTo>
                  <a:cubicBezTo>
                    <a:pt x="1901867" y="5110480"/>
                    <a:pt x="2254829" y="5113020"/>
                    <a:pt x="2697763" y="5110480"/>
                  </a:cubicBezTo>
                  <a:cubicBezTo>
                    <a:pt x="3295261" y="5106670"/>
                    <a:pt x="4305703" y="5078730"/>
                    <a:pt x="4808617" y="5074920"/>
                  </a:cubicBezTo>
                  <a:cubicBezTo>
                    <a:pt x="5090064" y="5072380"/>
                    <a:pt x="5180034" y="5074920"/>
                    <a:pt x="5463789" y="5077460"/>
                  </a:cubicBezTo>
                  <a:cubicBezTo>
                    <a:pt x="5999000" y="5081270"/>
                    <a:pt x="7069422" y="5077460"/>
                    <a:pt x="7766120" y="5109210"/>
                  </a:cubicBezTo>
                  <a:cubicBezTo>
                    <a:pt x="8349775" y="5137150"/>
                    <a:pt x="8887294" y="5205730"/>
                    <a:pt x="9364831" y="5236210"/>
                  </a:cubicBezTo>
                  <a:cubicBezTo>
                    <a:pt x="9757012" y="5261610"/>
                    <a:pt x="10239162" y="5388610"/>
                    <a:pt x="10430640" y="5289550"/>
                  </a:cubicBezTo>
                  <a:cubicBezTo>
                    <a:pt x="10672868" y="5165090"/>
                    <a:pt x="10412184" y="4685030"/>
                    <a:pt x="10384501" y="4358640"/>
                  </a:cubicBezTo>
                  <a:cubicBezTo>
                    <a:pt x="10354510" y="3997960"/>
                    <a:pt x="10273767" y="3543300"/>
                    <a:pt x="10246084" y="3216910"/>
                  </a:cubicBezTo>
                  <a:cubicBezTo>
                    <a:pt x="10225321" y="2974340"/>
                    <a:pt x="10220708" y="2853690"/>
                    <a:pt x="10211480" y="2578100"/>
                  </a:cubicBezTo>
                  <a:cubicBezTo>
                    <a:pt x="10195331" y="2070100"/>
                    <a:pt x="10105360" y="720090"/>
                    <a:pt x="10179182" y="416560"/>
                  </a:cubicBezTo>
                  <a:cubicBezTo>
                    <a:pt x="10199945" y="332740"/>
                    <a:pt x="10312985" y="300990"/>
                    <a:pt x="10257619" y="260350"/>
                  </a:cubicBezTo>
                  <a:cubicBezTo>
                    <a:pt x="10073063" y="123190"/>
                    <a:pt x="7888387" y="245110"/>
                    <a:pt x="6984065" y="226060"/>
                  </a:cubicBezTo>
                  <a:cubicBezTo>
                    <a:pt x="6345042" y="212090"/>
                    <a:pt x="5936712" y="186690"/>
                    <a:pt x="5348441" y="172720"/>
                  </a:cubicBezTo>
                  <a:cubicBezTo>
                    <a:pt x="4660972" y="156210"/>
                    <a:pt x="3908908" y="146050"/>
                    <a:pt x="3110706" y="138430"/>
                  </a:cubicBezTo>
                  <a:cubicBezTo>
                    <a:pt x="2194849" y="128270"/>
                    <a:pt x="423116" y="151130"/>
                    <a:pt x="153204" y="123190"/>
                  </a:cubicBezTo>
                  <a:cubicBezTo>
                    <a:pt x="109372" y="119380"/>
                    <a:pt x="97837" y="116840"/>
                    <a:pt x="79381" y="107950"/>
                  </a:cubicBezTo>
                  <a:cubicBezTo>
                    <a:pt x="60926" y="99060"/>
                    <a:pt x="44777" y="82550"/>
                    <a:pt x="42470" y="68580"/>
                  </a:cubicBezTo>
                  <a:cubicBezTo>
                    <a:pt x="37856" y="55880"/>
                    <a:pt x="44777" y="38100"/>
                    <a:pt x="60926" y="26670"/>
                  </a:cubicBezTo>
                  <a:cubicBezTo>
                    <a:pt x="79381" y="13970"/>
                    <a:pt x="153204" y="0"/>
                    <a:pt x="153204" y="0"/>
                  </a:cubicBezTo>
                </a:path>
              </a:pathLst>
            </a:custGeom>
            <a:solidFill>
              <a:srgbClr val="FFDA7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516191" y="6269152"/>
            <a:ext cx="5723567" cy="2871637"/>
            <a:chOff x="0" y="0"/>
            <a:chExt cx="8385944" cy="42074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6758" y="38609"/>
              <a:ext cx="8251603" cy="4133318"/>
            </a:xfrm>
            <a:custGeom>
              <a:avLst/>
              <a:gdLst/>
              <a:ahLst/>
              <a:cxnLst/>
              <a:rect r="r" b="b" t="t" l="l"/>
              <a:pathLst>
                <a:path h="4133318" w="8251603">
                  <a:moveTo>
                    <a:pt x="117939" y="0"/>
                  </a:moveTo>
                  <a:cubicBezTo>
                    <a:pt x="4506263" y="51157"/>
                    <a:pt x="5333847" y="85905"/>
                    <a:pt x="6095721" y="96522"/>
                  </a:cubicBezTo>
                  <a:cubicBezTo>
                    <a:pt x="6743936" y="105209"/>
                    <a:pt x="7647884" y="65635"/>
                    <a:pt x="7896515" y="101348"/>
                  </a:cubicBezTo>
                  <a:cubicBezTo>
                    <a:pt x="7967552" y="111001"/>
                    <a:pt x="7988863" y="107140"/>
                    <a:pt x="8024382" y="139957"/>
                  </a:cubicBezTo>
                  <a:cubicBezTo>
                    <a:pt x="8198423" y="300184"/>
                    <a:pt x="8011950" y="1716167"/>
                    <a:pt x="8026158" y="2074265"/>
                  </a:cubicBezTo>
                  <a:cubicBezTo>
                    <a:pt x="8031486" y="2211327"/>
                    <a:pt x="8035037" y="2243179"/>
                    <a:pt x="8049245" y="2359006"/>
                  </a:cubicBezTo>
                  <a:cubicBezTo>
                    <a:pt x="8072333" y="2544329"/>
                    <a:pt x="8143370" y="2833896"/>
                    <a:pt x="8170008" y="3074237"/>
                  </a:cubicBezTo>
                  <a:cubicBezTo>
                    <a:pt x="8198423" y="3318438"/>
                    <a:pt x="8198423" y="3642754"/>
                    <a:pt x="8216182" y="3813598"/>
                  </a:cubicBezTo>
                  <a:cubicBezTo>
                    <a:pt x="8225062" y="3903364"/>
                    <a:pt x="8265909" y="3964173"/>
                    <a:pt x="8246373" y="4020156"/>
                  </a:cubicBezTo>
                  <a:cubicBezTo>
                    <a:pt x="8233942" y="4061660"/>
                    <a:pt x="8207303" y="4105095"/>
                    <a:pt x="8157577" y="4123435"/>
                  </a:cubicBezTo>
                  <a:cubicBezTo>
                    <a:pt x="8109627" y="4140809"/>
                    <a:pt x="8040365" y="4130192"/>
                    <a:pt x="7956897" y="4129226"/>
                  </a:cubicBezTo>
                  <a:cubicBezTo>
                    <a:pt x="7816598" y="4127296"/>
                    <a:pt x="7626574" y="4114748"/>
                    <a:pt x="7397479" y="4098339"/>
                  </a:cubicBezTo>
                  <a:cubicBezTo>
                    <a:pt x="7028085" y="4073244"/>
                    <a:pt x="6296402" y="3997956"/>
                    <a:pt x="5957199" y="3978651"/>
                  </a:cubicBezTo>
                  <a:cubicBezTo>
                    <a:pt x="5774278" y="3968034"/>
                    <a:pt x="5724552" y="3968999"/>
                    <a:pt x="5532752" y="3965138"/>
                  </a:cubicBezTo>
                  <a:cubicBezTo>
                    <a:pt x="5136719" y="3957416"/>
                    <a:pt x="4278945" y="3948729"/>
                    <a:pt x="3701767" y="3953556"/>
                  </a:cubicBezTo>
                  <a:cubicBezTo>
                    <a:pt x="3184971" y="3958382"/>
                    <a:pt x="2666399" y="3981547"/>
                    <a:pt x="2231296" y="3987339"/>
                  </a:cubicBezTo>
                  <a:cubicBezTo>
                    <a:pt x="1884990" y="3993130"/>
                    <a:pt x="1618600" y="3996025"/>
                    <a:pt x="1295381" y="3994095"/>
                  </a:cubicBezTo>
                  <a:cubicBezTo>
                    <a:pt x="949074" y="3992165"/>
                    <a:pt x="394984" y="3992165"/>
                    <a:pt x="215615" y="3974791"/>
                  </a:cubicBezTo>
                  <a:cubicBezTo>
                    <a:pt x="153458" y="3968999"/>
                    <a:pt x="123267" y="3964173"/>
                    <a:pt x="93076" y="3953556"/>
                  </a:cubicBezTo>
                  <a:cubicBezTo>
                    <a:pt x="68213" y="3944868"/>
                    <a:pt x="45126" y="3935216"/>
                    <a:pt x="36246" y="3921703"/>
                  </a:cubicBezTo>
                  <a:cubicBezTo>
                    <a:pt x="25591" y="3906260"/>
                    <a:pt x="27366" y="3878268"/>
                    <a:pt x="45126" y="3863790"/>
                  </a:cubicBezTo>
                  <a:cubicBezTo>
                    <a:pt x="61109" y="3849311"/>
                    <a:pt x="110835" y="3837729"/>
                    <a:pt x="137474" y="3834833"/>
                  </a:cubicBezTo>
                  <a:cubicBezTo>
                    <a:pt x="157009" y="3832903"/>
                    <a:pt x="174769" y="3834833"/>
                    <a:pt x="190752" y="3840624"/>
                  </a:cubicBezTo>
                  <a:cubicBezTo>
                    <a:pt x="215615" y="3850276"/>
                    <a:pt x="247582" y="3885025"/>
                    <a:pt x="252910" y="3900468"/>
                  </a:cubicBezTo>
                  <a:cubicBezTo>
                    <a:pt x="258237" y="3909155"/>
                    <a:pt x="258237" y="3913982"/>
                    <a:pt x="251134" y="3921703"/>
                  </a:cubicBezTo>
                  <a:cubicBezTo>
                    <a:pt x="242254" y="3934251"/>
                    <a:pt x="204959" y="3957416"/>
                    <a:pt x="174769" y="3961277"/>
                  </a:cubicBezTo>
                  <a:cubicBezTo>
                    <a:pt x="144578" y="3966104"/>
                    <a:pt x="94852" y="3960312"/>
                    <a:pt x="69989" y="3949694"/>
                  </a:cubicBezTo>
                  <a:cubicBezTo>
                    <a:pt x="46902" y="3939077"/>
                    <a:pt x="39798" y="3923634"/>
                    <a:pt x="29142" y="3896607"/>
                  </a:cubicBezTo>
                  <a:cubicBezTo>
                    <a:pt x="2503" y="3819389"/>
                    <a:pt x="43350" y="3635997"/>
                    <a:pt x="46902" y="3441022"/>
                  </a:cubicBezTo>
                  <a:cubicBezTo>
                    <a:pt x="54005" y="3091611"/>
                    <a:pt x="52229" y="2470972"/>
                    <a:pt x="45126" y="1976778"/>
                  </a:cubicBezTo>
                  <a:cubicBezTo>
                    <a:pt x="38022" y="1470035"/>
                    <a:pt x="-15256" y="760596"/>
                    <a:pt x="4279" y="438211"/>
                  </a:cubicBezTo>
                  <a:cubicBezTo>
                    <a:pt x="11383" y="291497"/>
                    <a:pt x="66437" y="179532"/>
                    <a:pt x="48678" y="117757"/>
                  </a:cubicBezTo>
                  <a:cubicBezTo>
                    <a:pt x="41574" y="90731"/>
                    <a:pt x="9607" y="78183"/>
                    <a:pt x="9607" y="61774"/>
                  </a:cubicBezTo>
                  <a:cubicBezTo>
                    <a:pt x="11383" y="48261"/>
                    <a:pt x="23815" y="33783"/>
                    <a:pt x="41574" y="25096"/>
                  </a:cubicBezTo>
                  <a:cubicBezTo>
                    <a:pt x="64661" y="14478"/>
                    <a:pt x="116163" y="4826"/>
                    <a:pt x="146354" y="6756"/>
                  </a:cubicBezTo>
                  <a:cubicBezTo>
                    <a:pt x="171217" y="7722"/>
                    <a:pt x="196080" y="17374"/>
                    <a:pt x="212063" y="26061"/>
                  </a:cubicBezTo>
                  <a:cubicBezTo>
                    <a:pt x="228047" y="35713"/>
                    <a:pt x="240478" y="50192"/>
                    <a:pt x="242254" y="63705"/>
                  </a:cubicBezTo>
                  <a:cubicBezTo>
                    <a:pt x="245806" y="76253"/>
                    <a:pt x="240478" y="91696"/>
                    <a:pt x="226271" y="103279"/>
                  </a:cubicBezTo>
                  <a:cubicBezTo>
                    <a:pt x="206735" y="115827"/>
                    <a:pt x="162337" y="132236"/>
                    <a:pt x="130370" y="133201"/>
                  </a:cubicBezTo>
                  <a:cubicBezTo>
                    <a:pt x="98404" y="134166"/>
                    <a:pt x="52229" y="119688"/>
                    <a:pt x="32694" y="107140"/>
                  </a:cubicBezTo>
                  <a:cubicBezTo>
                    <a:pt x="14935" y="96522"/>
                    <a:pt x="6055" y="82044"/>
                    <a:pt x="9607" y="68531"/>
                  </a:cubicBezTo>
                  <a:cubicBezTo>
                    <a:pt x="11383" y="52122"/>
                    <a:pt x="38022" y="26061"/>
                    <a:pt x="61109" y="16409"/>
                  </a:cubicBezTo>
                  <a:cubicBezTo>
                    <a:pt x="82420" y="7722"/>
                    <a:pt x="110835" y="4826"/>
                    <a:pt x="133922" y="5791"/>
                  </a:cubicBezTo>
                  <a:cubicBezTo>
                    <a:pt x="157009" y="6756"/>
                    <a:pt x="185424" y="11583"/>
                    <a:pt x="203184" y="21235"/>
                  </a:cubicBezTo>
                  <a:cubicBezTo>
                    <a:pt x="226271" y="33783"/>
                    <a:pt x="240478" y="59844"/>
                    <a:pt x="251134" y="80113"/>
                  </a:cubicBezTo>
                  <a:cubicBezTo>
                    <a:pt x="261789" y="100383"/>
                    <a:pt x="265341" y="113896"/>
                    <a:pt x="267117" y="143818"/>
                  </a:cubicBezTo>
                  <a:cubicBezTo>
                    <a:pt x="272445" y="217175"/>
                    <a:pt x="238702" y="329141"/>
                    <a:pt x="229823" y="514464"/>
                  </a:cubicBezTo>
                  <a:cubicBezTo>
                    <a:pt x="203184" y="1076224"/>
                    <a:pt x="386104" y="3666884"/>
                    <a:pt x="258237" y="3907225"/>
                  </a:cubicBezTo>
                  <a:cubicBezTo>
                    <a:pt x="240478" y="3939077"/>
                    <a:pt x="222719" y="3946799"/>
                    <a:pt x="199632" y="3955486"/>
                  </a:cubicBezTo>
                  <a:cubicBezTo>
                    <a:pt x="183648" y="3962243"/>
                    <a:pt x="165889" y="3964173"/>
                    <a:pt x="148130" y="3964173"/>
                  </a:cubicBezTo>
                  <a:cubicBezTo>
                    <a:pt x="123267" y="3963208"/>
                    <a:pt x="89524" y="3958382"/>
                    <a:pt x="69989" y="3949695"/>
                  </a:cubicBezTo>
                  <a:cubicBezTo>
                    <a:pt x="50454" y="3941008"/>
                    <a:pt x="36246" y="3921703"/>
                    <a:pt x="30918" y="3911086"/>
                  </a:cubicBezTo>
                  <a:cubicBezTo>
                    <a:pt x="27366" y="3905294"/>
                    <a:pt x="27366" y="3896607"/>
                    <a:pt x="29142" y="3896607"/>
                  </a:cubicBezTo>
                  <a:cubicBezTo>
                    <a:pt x="36246" y="3895642"/>
                    <a:pt x="96628" y="3952590"/>
                    <a:pt x="93076" y="3953556"/>
                  </a:cubicBezTo>
                  <a:cubicBezTo>
                    <a:pt x="89524" y="3954521"/>
                    <a:pt x="46902" y="3934251"/>
                    <a:pt x="36246" y="3921703"/>
                  </a:cubicBezTo>
                  <a:cubicBezTo>
                    <a:pt x="25591" y="3909155"/>
                    <a:pt x="27366" y="3889851"/>
                    <a:pt x="32694" y="3877303"/>
                  </a:cubicBezTo>
                  <a:cubicBezTo>
                    <a:pt x="38022" y="3867651"/>
                    <a:pt x="48678" y="3858964"/>
                    <a:pt x="62885" y="3852207"/>
                  </a:cubicBezTo>
                  <a:cubicBezTo>
                    <a:pt x="80644" y="3843520"/>
                    <a:pt x="101956" y="3837729"/>
                    <a:pt x="137474" y="3834833"/>
                  </a:cubicBezTo>
                  <a:cubicBezTo>
                    <a:pt x="215615" y="3829042"/>
                    <a:pt x="380777" y="3857999"/>
                    <a:pt x="528179" y="3865720"/>
                  </a:cubicBezTo>
                  <a:cubicBezTo>
                    <a:pt x="719979" y="3875373"/>
                    <a:pt x="952626" y="3877303"/>
                    <a:pt x="1188825" y="3880199"/>
                  </a:cubicBezTo>
                  <a:cubicBezTo>
                    <a:pt x="1464094" y="3884059"/>
                    <a:pt x="1735812" y="3885990"/>
                    <a:pt x="2076790" y="3884059"/>
                  </a:cubicBezTo>
                  <a:cubicBezTo>
                    <a:pt x="2536756" y="3881164"/>
                    <a:pt x="3314614" y="3859929"/>
                    <a:pt x="3701767" y="3857033"/>
                  </a:cubicBezTo>
                  <a:cubicBezTo>
                    <a:pt x="3918431" y="3855103"/>
                    <a:pt x="3987692" y="3857033"/>
                    <a:pt x="4206131" y="3858964"/>
                  </a:cubicBezTo>
                  <a:cubicBezTo>
                    <a:pt x="4618148" y="3861860"/>
                    <a:pt x="5442179" y="3858964"/>
                    <a:pt x="5978510" y="3883094"/>
                  </a:cubicBezTo>
                  <a:cubicBezTo>
                    <a:pt x="6427820" y="3904329"/>
                    <a:pt x="6841612" y="3956451"/>
                    <a:pt x="7209230" y="3979617"/>
                  </a:cubicBezTo>
                  <a:cubicBezTo>
                    <a:pt x="7511138" y="3998921"/>
                    <a:pt x="7882308" y="4095443"/>
                    <a:pt x="8029710" y="4020156"/>
                  </a:cubicBezTo>
                  <a:cubicBezTo>
                    <a:pt x="8216183" y="3925564"/>
                    <a:pt x="8015502" y="3560710"/>
                    <a:pt x="7994192" y="3312647"/>
                  </a:cubicBezTo>
                  <a:cubicBezTo>
                    <a:pt x="7971104" y="3038524"/>
                    <a:pt x="7908947" y="2692974"/>
                    <a:pt x="7887636" y="2444911"/>
                  </a:cubicBezTo>
                  <a:cubicBezTo>
                    <a:pt x="7871652" y="2260554"/>
                    <a:pt x="7868100" y="2168857"/>
                    <a:pt x="7860997" y="1959404"/>
                  </a:cubicBezTo>
                  <a:cubicBezTo>
                    <a:pt x="7848565" y="1573314"/>
                    <a:pt x="7779304" y="547282"/>
                    <a:pt x="7836133" y="316593"/>
                  </a:cubicBezTo>
                  <a:cubicBezTo>
                    <a:pt x="7852117" y="252888"/>
                    <a:pt x="7939138" y="228758"/>
                    <a:pt x="7896516" y="197871"/>
                  </a:cubicBezTo>
                  <a:cubicBezTo>
                    <a:pt x="7754441" y="93627"/>
                    <a:pt x="6072634" y="186288"/>
                    <a:pt x="5376470" y="171810"/>
                  </a:cubicBezTo>
                  <a:cubicBezTo>
                    <a:pt x="4884537" y="161192"/>
                    <a:pt x="4570197" y="141888"/>
                    <a:pt x="4117335" y="131270"/>
                  </a:cubicBezTo>
                  <a:cubicBezTo>
                    <a:pt x="3588108" y="118722"/>
                    <a:pt x="3009154" y="111001"/>
                    <a:pt x="2394682" y="105209"/>
                  </a:cubicBezTo>
                  <a:cubicBezTo>
                    <a:pt x="1689638" y="97488"/>
                    <a:pt x="325723" y="114862"/>
                    <a:pt x="117939" y="93627"/>
                  </a:cubicBezTo>
                  <a:cubicBezTo>
                    <a:pt x="84196" y="90731"/>
                    <a:pt x="75317" y="88800"/>
                    <a:pt x="61109" y="82044"/>
                  </a:cubicBezTo>
                  <a:cubicBezTo>
                    <a:pt x="46902" y="75287"/>
                    <a:pt x="34470" y="62739"/>
                    <a:pt x="32694" y="52122"/>
                  </a:cubicBezTo>
                  <a:cubicBezTo>
                    <a:pt x="29143" y="42470"/>
                    <a:pt x="34470" y="28957"/>
                    <a:pt x="46902" y="20270"/>
                  </a:cubicBezTo>
                  <a:cubicBezTo>
                    <a:pt x="61109" y="10617"/>
                    <a:pt x="117939" y="0"/>
                    <a:pt x="117939" y="0"/>
                  </a:cubicBezTo>
                </a:path>
              </a:pathLst>
            </a:custGeom>
            <a:solidFill>
              <a:srgbClr val="FAC2F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51508" y="3004269"/>
            <a:ext cx="407272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CNN classification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20063" y="3171740"/>
            <a:ext cx="378045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b="true" sz="4000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U-Net segmentation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1508" y="6546964"/>
            <a:ext cx="501101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Mask R-CNN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94256" y="7319208"/>
            <a:ext cx="469948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Multi-task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019175"/>
            <a:ext cx="468883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State of the Art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796353" y="1847850"/>
            <a:ext cx="5508324" cy="6157158"/>
            <a:chOff x="0" y="0"/>
            <a:chExt cx="5996940" cy="67033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7740" y="61513"/>
              <a:ext cx="5900870" cy="6585284"/>
            </a:xfrm>
            <a:custGeom>
              <a:avLst/>
              <a:gdLst/>
              <a:ahLst/>
              <a:cxnLst/>
              <a:rect r="r" b="b" t="t" l="l"/>
              <a:pathLst>
                <a:path h="6585284" w="5900870">
                  <a:moveTo>
                    <a:pt x="84340" y="0"/>
                  </a:moveTo>
                  <a:cubicBezTo>
                    <a:pt x="3222510" y="81504"/>
                    <a:pt x="3814330" y="136865"/>
                    <a:pt x="4359160" y="153781"/>
                  </a:cubicBezTo>
                  <a:cubicBezTo>
                    <a:pt x="4822710" y="167621"/>
                    <a:pt x="5469140" y="104571"/>
                    <a:pt x="5646940" y="161470"/>
                  </a:cubicBezTo>
                  <a:cubicBezTo>
                    <a:pt x="5697740" y="176848"/>
                    <a:pt x="5712980" y="170697"/>
                    <a:pt x="5738380" y="222982"/>
                  </a:cubicBezTo>
                  <a:cubicBezTo>
                    <a:pt x="5862840" y="478260"/>
                    <a:pt x="5729490" y="2734232"/>
                    <a:pt x="5739650" y="3304761"/>
                  </a:cubicBezTo>
                  <a:cubicBezTo>
                    <a:pt x="5743460" y="3523130"/>
                    <a:pt x="5746000" y="3573878"/>
                    <a:pt x="5756160" y="3758415"/>
                  </a:cubicBezTo>
                  <a:cubicBezTo>
                    <a:pt x="5772670" y="4053676"/>
                    <a:pt x="5823470" y="4515020"/>
                    <a:pt x="5842520" y="4897935"/>
                  </a:cubicBezTo>
                  <a:cubicBezTo>
                    <a:pt x="5862840" y="5287002"/>
                    <a:pt x="5862840" y="5803707"/>
                    <a:pt x="5875540" y="6075900"/>
                  </a:cubicBezTo>
                  <a:cubicBezTo>
                    <a:pt x="5881890" y="6218917"/>
                    <a:pt x="5911100" y="6315799"/>
                    <a:pt x="5897130" y="6404992"/>
                  </a:cubicBezTo>
                  <a:cubicBezTo>
                    <a:pt x="5888240" y="6471118"/>
                    <a:pt x="5869190" y="6540320"/>
                    <a:pt x="5833630" y="6569538"/>
                  </a:cubicBezTo>
                  <a:cubicBezTo>
                    <a:pt x="5799340" y="6597219"/>
                    <a:pt x="5749810" y="6580303"/>
                    <a:pt x="5690120" y="6578765"/>
                  </a:cubicBezTo>
                  <a:cubicBezTo>
                    <a:pt x="5589790" y="6575690"/>
                    <a:pt x="5453900" y="6555698"/>
                    <a:pt x="5290070" y="6529555"/>
                  </a:cubicBezTo>
                  <a:cubicBezTo>
                    <a:pt x="5025910" y="6489572"/>
                    <a:pt x="4502670" y="6369622"/>
                    <a:pt x="4260100" y="6338866"/>
                  </a:cubicBezTo>
                  <a:cubicBezTo>
                    <a:pt x="4129290" y="6321950"/>
                    <a:pt x="4093730" y="6323488"/>
                    <a:pt x="3956570" y="6317337"/>
                  </a:cubicBezTo>
                  <a:cubicBezTo>
                    <a:pt x="3673360" y="6305034"/>
                    <a:pt x="3059950" y="6291194"/>
                    <a:pt x="2647200" y="6298883"/>
                  </a:cubicBezTo>
                  <a:cubicBezTo>
                    <a:pt x="2277630" y="6306572"/>
                    <a:pt x="1906790" y="6343480"/>
                    <a:pt x="1595640" y="6352707"/>
                  </a:cubicBezTo>
                  <a:cubicBezTo>
                    <a:pt x="1347990" y="6361933"/>
                    <a:pt x="1157490" y="6366547"/>
                    <a:pt x="926350" y="6363471"/>
                  </a:cubicBezTo>
                  <a:cubicBezTo>
                    <a:pt x="678700" y="6360396"/>
                    <a:pt x="282460" y="6360396"/>
                    <a:pt x="154190" y="6332715"/>
                  </a:cubicBezTo>
                  <a:cubicBezTo>
                    <a:pt x="109740" y="6323488"/>
                    <a:pt x="88150" y="6315799"/>
                    <a:pt x="66560" y="6298883"/>
                  </a:cubicBezTo>
                  <a:cubicBezTo>
                    <a:pt x="48780" y="6285043"/>
                    <a:pt x="32270" y="6269665"/>
                    <a:pt x="25920" y="6248135"/>
                  </a:cubicBezTo>
                  <a:cubicBezTo>
                    <a:pt x="18300" y="6223530"/>
                    <a:pt x="19570" y="6178934"/>
                    <a:pt x="32270" y="6155866"/>
                  </a:cubicBezTo>
                  <a:cubicBezTo>
                    <a:pt x="43700" y="6132799"/>
                    <a:pt x="79260" y="6114346"/>
                    <a:pt x="98310" y="6109732"/>
                  </a:cubicBezTo>
                  <a:cubicBezTo>
                    <a:pt x="112280" y="6106657"/>
                    <a:pt x="124980" y="6109732"/>
                    <a:pt x="136410" y="6118959"/>
                  </a:cubicBezTo>
                  <a:cubicBezTo>
                    <a:pt x="154190" y="6134337"/>
                    <a:pt x="177050" y="6189698"/>
                    <a:pt x="180860" y="6214304"/>
                  </a:cubicBezTo>
                  <a:cubicBezTo>
                    <a:pt x="184670" y="6228144"/>
                    <a:pt x="184670" y="6235833"/>
                    <a:pt x="179590" y="6248135"/>
                  </a:cubicBezTo>
                  <a:cubicBezTo>
                    <a:pt x="173240" y="6268127"/>
                    <a:pt x="146570" y="6305034"/>
                    <a:pt x="124980" y="6311186"/>
                  </a:cubicBezTo>
                  <a:cubicBezTo>
                    <a:pt x="103390" y="6318875"/>
                    <a:pt x="67830" y="6309648"/>
                    <a:pt x="50050" y="6292732"/>
                  </a:cubicBezTo>
                  <a:cubicBezTo>
                    <a:pt x="33540" y="6275816"/>
                    <a:pt x="28460" y="6251211"/>
                    <a:pt x="20840" y="6208152"/>
                  </a:cubicBezTo>
                  <a:cubicBezTo>
                    <a:pt x="1790" y="6085127"/>
                    <a:pt x="31000" y="5792942"/>
                    <a:pt x="33540" y="5482304"/>
                  </a:cubicBezTo>
                  <a:cubicBezTo>
                    <a:pt x="38620" y="4925616"/>
                    <a:pt x="37350" y="3936802"/>
                    <a:pt x="32270" y="3149441"/>
                  </a:cubicBezTo>
                  <a:cubicBezTo>
                    <a:pt x="27190" y="2342089"/>
                    <a:pt x="-10910" y="1211796"/>
                    <a:pt x="3060" y="698167"/>
                  </a:cubicBezTo>
                  <a:cubicBezTo>
                    <a:pt x="8140" y="464419"/>
                    <a:pt x="47510" y="286033"/>
                    <a:pt x="34810" y="187613"/>
                  </a:cubicBezTo>
                  <a:cubicBezTo>
                    <a:pt x="29730" y="144554"/>
                    <a:pt x="6870" y="124562"/>
                    <a:pt x="6870" y="98420"/>
                  </a:cubicBezTo>
                  <a:cubicBezTo>
                    <a:pt x="8140" y="76890"/>
                    <a:pt x="17030" y="53823"/>
                    <a:pt x="29730" y="39983"/>
                  </a:cubicBezTo>
                  <a:cubicBezTo>
                    <a:pt x="46240" y="23067"/>
                    <a:pt x="83070" y="7689"/>
                    <a:pt x="104660" y="10764"/>
                  </a:cubicBezTo>
                  <a:cubicBezTo>
                    <a:pt x="122440" y="12302"/>
                    <a:pt x="140220" y="27680"/>
                    <a:pt x="151650" y="41520"/>
                  </a:cubicBezTo>
                  <a:cubicBezTo>
                    <a:pt x="163080" y="56899"/>
                    <a:pt x="171970" y="79966"/>
                    <a:pt x="173240" y="101495"/>
                  </a:cubicBezTo>
                  <a:cubicBezTo>
                    <a:pt x="175780" y="121487"/>
                    <a:pt x="171970" y="146092"/>
                    <a:pt x="161810" y="164546"/>
                  </a:cubicBezTo>
                  <a:cubicBezTo>
                    <a:pt x="147840" y="184537"/>
                    <a:pt x="116090" y="210680"/>
                    <a:pt x="93230" y="212218"/>
                  </a:cubicBezTo>
                  <a:cubicBezTo>
                    <a:pt x="70370" y="213756"/>
                    <a:pt x="37350" y="190688"/>
                    <a:pt x="23380" y="170697"/>
                  </a:cubicBezTo>
                  <a:cubicBezTo>
                    <a:pt x="10680" y="153781"/>
                    <a:pt x="4330" y="130714"/>
                    <a:pt x="6870" y="109184"/>
                  </a:cubicBezTo>
                  <a:cubicBezTo>
                    <a:pt x="8140" y="83041"/>
                    <a:pt x="27190" y="41520"/>
                    <a:pt x="43700" y="26142"/>
                  </a:cubicBezTo>
                  <a:cubicBezTo>
                    <a:pt x="58940" y="12302"/>
                    <a:pt x="79260" y="7689"/>
                    <a:pt x="95770" y="9226"/>
                  </a:cubicBezTo>
                  <a:cubicBezTo>
                    <a:pt x="112280" y="10764"/>
                    <a:pt x="132600" y="18453"/>
                    <a:pt x="145300" y="33831"/>
                  </a:cubicBezTo>
                  <a:cubicBezTo>
                    <a:pt x="161810" y="53823"/>
                    <a:pt x="171970" y="95344"/>
                    <a:pt x="179590" y="127638"/>
                  </a:cubicBezTo>
                  <a:cubicBezTo>
                    <a:pt x="187210" y="159932"/>
                    <a:pt x="189750" y="181461"/>
                    <a:pt x="191020" y="229134"/>
                  </a:cubicBezTo>
                  <a:cubicBezTo>
                    <a:pt x="194830" y="346008"/>
                    <a:pt x="170700" y="524394"/>
                    <a:pt x="164350" y="819654"/>
                  </a:cubicBezTo>
                  <a:cubicBezTo>
                    <a:pt x="145300" y="1714662"/>
                    <a:pt x="276110" y="5842153"/>
                    <a:pt x="184670" y="6225068"/>
                  </a:cubicBezTo>
                  <a:cubicBezTo>
                    <a:pt x="171970" y="6275816"/>
                    <a:pt x="159270" y="6288118"/>
                    <a:pt x="142760" y="6301959"/>
                  </a:cubicBezTo>
                  <a:cubicBezTo>
                    <a:pt x="131330" y="6312724"/>
                    <a:pt x="118630" y="6315799"/>
                    <a:pt x="105930" y="6315799"/>
                  </a:cubicBezTo>
                  <a:cubicBezTo>
                    <a:pt x="88150" y="6314261"/>
                    <a:pt x="64020" y="6306572"/>
                    <a:pt x="50050" y="6292732"/>
                  </a:cubicBezTo>
                  <a:cubicBezTo>
                    <a:pt x="36080" y="6278891"/>
                    <a:pt x="25920" y="6248135"/>
                    <a:pt x="22110" y="6231220"/>
                  </a:cubicBezTo>
                  <a:cubicBezTo>
                    <a:pt x="19570" y="6221993"/>
                    <a:pt x="19570" y="6208152"/>
                    <a:pt x="20840" y="6208152"/>
                  </a:cubicBezTo>
                  <a:cubicBezTo>
                    <a:pt x="25920" y="6206614"/>
                    <a:pt x="69100" y="6297345"/>
                    <a:pt x="66560" y="6298883"/>
                  </a:cubicBezTo>
                  <a:cubicBezTo>
                    <a:pt x="64020" y="6300421"/>
                    <a:pt x="33540" y="6268127"/>
                    <a:pt x="25920" y="6248135"/>
                  </a:cubicBezTo>
                  <a:cubicBezTo>
                    <a:pt x="18300" y="6228144"/>
                    <a:pt x="19570" y="6197388"/>
                    <a:pt x="23380" y="6177396"/>
                  </a:cubicBezTo>
                  <a:cubicBezTo>
                    <a:pt x="27190" y="6162018"/>
                    <a:pt x="34810" y="6148177"/>
                    <a:pt x="44970" y="6137413"/>
                  </a:cubicBezTo>
                  <a:cubicBezTo>
                    <a:pt x="57670" y="6123573"/>
                    <a:pt x="72910" y="6114346"/>
                    <a:pt x="98310" y="6109732"/>
                  </a:cubicBezTo>
                  <a:cubicBezTo>
                    <a:pt x="154190" y="6100505"/>
                    <a:pt x="272300" y="6146640"/>
                    <a:pt x="377710" y="6158942"/>
                  </a:cubicBezTo>
                  <a:cubicBezTo>
                    <a:pt x="514870" y="6174320"/>
                    <a:pt x="681240" y="6177396"/>
                    <a:pt x="850150" y="6182009"/>
                  </a:cubicBezTo>
                  <a:cubicBezTo>
                    <a:pt x="1047000" y="6188161"/>
                    <a:pt x="1241310" y="6191236"/>
                    <a:pt x="1485150" y="6188161"/>
                  </a:cubicBezTo>
                  <a:cubicBezTo>
                    <a:pt x="1814080" y="6183547"/>
                    <a:pt x="2370340" y="6149715"/>
                    <a:pt x="2647200" y="6145102"/>
                  </a:cubicBezTo>
                  <a:cubicBezTo>
                    <a:pt x="2802140" y="6142026"/>
                    <a:pt x="2851670" y="6145102"/>
                    <a:pt x="3007880" y="6148177"/>
                  </a:cubicBezTo>
                  <a:cubicBezTo>
                    <a:pt x="3302520" y="6152791"/>
                    <a:pt x="3891800" y="6148177"/>
                    <a:pt x="4275340" y="6186623"/>
                  </a:cubicBezTo>
                  <a:cubicBezTo>
                    <a:pt x="4596650" y="6220455"/>
                    <a:pt x="4892560" y="6303497"/>
                    <a:pt x="5155450" y="6340404"/>
                  </a:cubicBezTo>
                  <a:cubicBezTo>
                    <a:pt x="5371350" y="6371160"/>
                    <a:pt x="5636780" y="6524942"/>
                    <a:pt x="5742190" y="6404992"/>
                  </a:cubicBezTo>
                  <a:cubicBezTo>
                    <a:pt x="5875540" y="6254287"/>
                    <a:pt x="5732030" y="5672993"/>
                    <a:pt x="5716790" y="5277775"/>
                  </a:cubicBezTo>
                  <a:cubicBezTo>
                    <a:pt x="5700280" y="4841036"/>
                    <a:pt x="5655830" y="4290499"/>
                    <a:pt x="5640590" y="3895281"/>
                  </a:cubicBezTo>
                  <a:cubicBezTo>
                    <a:pt x="5629160" y="3601558"/>
                    <a:pt x="5626620" y="3455466"/>
                    <a:pt x="5621540" y="3121761"/>
                  </a:cubicBezTo>
                  <a:cubicBezTo>
                    <a:pt x="5612650" y="2506635"/>
                    <a:pt x="5563120" y="871940"/>
                    <a:pt x="5603760" y="504402"/>
                  </a:cubicBezTo>
                  <a:cubicBezTo>
                    <a:pt x="5615190" y="402907"/>
                    <a:pt x="5677420" y="364461"/>
                    <a:pt x="5646940" y="315251"/>
                  </a:cubicBezTo>
                  <a:cubicBezTo>
                    <a:pt x="5545340" y="149167"/>
                    <a:pt x="4342650" y="296798"/>
                    <a:pt x="3844810" y="273730"/>
                  </a:cubicBezTo>
                  <a:cubicBezTo>
                    <a:pt x="3493020" y="256814"/>
                    <a:pt x="3268230" y="226058"/>
                    <a:pt x="2944380" y="209142"/>
                  </a:cubicBezTo>
                  <a:cubicBezTo>
                    <a:pt x="2565920" y="189151"/>
                    <a:pt x="2151900" y="176848"/>
                    <a:pt x="1712480" y="167621"/>
                  </a:cubicBezTo>
                  <a:cubicBezTo>
                    <a:pt x="1208290" y="155319"/>
                    <a:pt x="232930" y="182999"/>
                    <a:pt x="84340" y="149167"/>
                  </a:cubicBezTo>
                  <a:cubicBezTo>
                    <a:pt x="60210" y="144554"/>
                    <a:pt x="53860" y="141478"/>
                    <a:pt x="43700" y="130714"/>
                  </a:cubicBezTo>
                  <a:cubicBezTo>
                    <a:pt x="33540" y="119949"/>
                    <a:pt x="24650" y="99957"/>
                    <a:pt x="23380" y="83041"/>
                  </a:cubicBezTo>
                  <a:cubicBezTo>
                    <a:pt x="20840" y="67663"/>
                    <a:pt x="24650" y="46134"/>
                    <a:pt x="33540" y="32294"/>
                  </a:cubicBezTo>
                  <a:cubicBezTo>
                    <a:pt x="43700" y="16915"/>
                    <a:pt x="84340" y="0"/>
                    <a:pt x="84340" y="0"/>
                  </a:cubicBezTo>
                </a:path>
              </a:pathLst>
            </a:custGeom>
            <a:solidFill>
              <a:srgbClr val="2A3A7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470854" y="3142003"/>
            <a:ext cx="4159323" cy="312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4"/>
              </a:lnSpc>
              <a:spcBef>
                <a:spcPct val="0"/>
              </a:spcBef>
            </a:pPr>
            <a:r>
              <a:rPr lang="en-US" b="true" sz="4003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s: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 imbalanc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 li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 a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tation</a:t>
            </a:r>
            <a:r>
              <a:rPr lang="en-US" b="true" sz="4003" strike="noStrike" u="none">
                <a:solidFill>
                  <a:srgbClr val="2A3A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s, anatomical consistency.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0972800" cy="1097280"/>
            <a:chOff x="0" y="0"/>
            <a:chExt cx="146304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DenPAR Dataset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617220"/>
            <a:ext cx="1371600" cy="1371600"/>
            <a:chOff x="0" y="0"/>
            <a:chExt cx="18288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212312" y="918972"/>
            <a:ext cx="768096" cy="768096"/>
            <a:chOff x="0" y="0"/>
            <a:chExt cx="1024128" cy="102412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2194560"/>
            <a:ext cx="5760720" cy="3017520"/>
            <a:chOff x="0" y="0"/>
            <a:chExt cx="7680960" cy="4023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80961" cy="4023360"/>
            </a:xfrm>
            <a:custGeom>
              <a:avLst/>
              <a:gdLst/>
              <a:ahLst/>
              <a:cxnLst/>
              <a:rect r="r" b="b" t="t" l="l"/>
              <a:pathLst>
                <a:path h="4023360" w="76809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534656" y="0"/>
                  </a:lnTo>
                  <a:cubicBezTo>
                    <a:pt x="7615428" y="0"/>
                    <a:pt x="7680961" y="65532"/>
                    <a:pt x="7680961" y="146304"/>
                  </a:cubicBezTo>
                  <a:lnTo>
                    <a:pt x="7680961" y="3877056"/>
                  </a:lnTo>
                  <a:cubicBezTo>
                    <a:pt x="7680961" y="3957828"/>
                    <a:pt x="7615428" y="4023360"/>
                    <a:pt x="7534656" y="4023360"/>
                  </a:cubicBezTo>
                  <a:lnTo>
                    <a:pt x="146304" y="4023360"/>
                  </a:lnTo>
                  <a:cubicBezTo>
                    <a:pt x="65532" y="4023360"/>
                    <a:pt x="0" y="3957828"/>
                    <a:pt x="0" y="3877056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2400300"/>
            <a:ext cx="5760720" cy="1371600"/>
            <a:chOff x="0" y="0"/>
            <a:chExt cx="768096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80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42875"/>
              <a:ext cx="7680960" cy="197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650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3909060"/>
            <a:ext cx="5760720" cy="685800"/>
            <a:chOff x="0" y="0"/>
            <a:chExt cx="768096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80960" cy="914400"/>
            </a:xfrm>
            <a:custGeom>
              <a:avLst/>
              <a:gdLst/>
              <a:ahLst/>
              <a:cxnLst/>
              <a:rect r="r" b="b" t="t" l="l"/>
              <a:pathLst>
                <a:path h="91440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6809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samples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89420" y="2194560"/>
            <a:ext cx="5760720" cy="3017520"/>
            <a:chOff x="0" y="0"/>
            <a:chExt cx="7680960" cy="4023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80961" cy="4023360"/>
            </a:xfrm>
            <a:custGeom>
              <a:avLst/>
              <a:gdLst/>
              <a:ahLst/>
              <a:cxnLst/>
              <a:rect r="r" b="b" t="t" l="l"/>
              <a:pathLst>
                <a:path h="4023360" w="76809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534656" y="0"/>
                  </a:lnTo>
                  <a:cubicBezTo>
                    <a:pt x="7615428" y="0"/>
                    <a:pt x="7680961" y="65532"/>
                    <a:pt x="7680961" y="146304"/>
                  </a:cubicBezTo>
                  <a:lnTo>
                    <a:pt x="7680961" y="3877056"/>
                  </a:lnTo>
                  <a:cubicBezTo>
                    <a:pt x="7680961" y="3957828"/>
                    <a:pt x="7615428" y="4023360"/>
                    <a:pt x="7534656" y="4023360"/>
                  </a:cubicBezTo>
                  <a:lnTo>
                    <a:pt x="146304" y="4023360"/>
                  </a:lnTo>
                  <a:cubicBezTo>
                    <a:pt x="65532" y="4023360"/>
                    <a:pt x="0" y="3957828"/>
                    <a:pt x="0" y="3877056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789420" y="2400300"/>
            <a:ext cx="5760720" cy="1371600"/>
            <a:chOff x="0" y="0"/>
            <a:chExt cx="768096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80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42875"/>
              <a:ext cx="7680960" cy="197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9420" y="3909060"/>
            <a:ext cx="5760720" cy="685800"/>
            <a:chOff x="0" y="0"/>
            <a:chExt cx="768096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80960" cy="914400"/>
            </a:xfrm>
            <a:custGeom>
              <a:avLst/>
              <a:gdLst/>
              <a:ahLst/>
              <a:cxnLst/>
              <a:rect r="r" b="b" t="t" l="l"/>
              <a:pathLst>
                <a:path h="91440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76809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samples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755880" y="2194560"/>
            <a:ext cx="4663440" cy="3017520"/>
            <a:chOff x="0" y="0"/>
            <a:chExt cx="6217920" cy="4023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17920" cy="4023360"/>
            </a:xfrm>
            <a:custGeom>
              <a:avLst/>
              <a:gdLst/>
              <a:ahLst/>
              <a:cxnLst/>
              <a:rect r="r" b="b" t="t" l="l"/>
              <a:pathLst>
                <a:path h="4023360" w="6217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071616" y="0"/>
                  </a:lnTo>
                  <a:cubicBezTo>
                    <a:pt x="6152388" y="0"/>
                    <a:pt x="6217920" y="65532"/>
                    <a:pt x="6217920" y="146304"/>
                  </a:cubicBezTo>
                  <a:lnTo>
                    <a:pt x="6217920" y="3877056"/>
                  </a:lnTo>
                  <a:cubicBezTo>
                    <a:pt x="6217920" y="3957828"/>
                    <a:pt x="6152388" y="4023360"/>
                    <a:pt x="6071616" y="4023360"/>
                  </a:cubicBezTo>
                  <a:lnTo>
                    <a:pt x="146304" y="4023360"/>
                  </a:lnTo>
                  <a:cubicBezTo>
                    <a:pt x="65532" y="4023360"/>
                    <a:pt x="0" y="3957828"/>
                    <a:pt x="0" y="387705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755880" y="2400300"/>
            <a:ext cx="4663440" cy="1371600"/>
            <a:chOff x="0" y="0"/>
            <a:chExt cx="6217920" cy="182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1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42875"/>
              <a:ext cx="6217920" cy="197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200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55880" y="3909060"/>
            <a:ext cx="4663440" cy="685800"/>
            <a:chOff x="0" y="0"/>
            <a:chExt cx="621792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0" cy="914400"/>
            </a:xfrm>
            <a:custGeom>
              <a:avLst/>
              <a:gdLst/>
              <a:ahLst/>
              <a:cxnLst/>
              <a:rect r="r" b="b" t="t" l="l"/>
              <a:pathLst>
                <a:path h="9144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62179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Testing samples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5623560"/>
            <a:ext cx="8229600" cy="685800"/>
            <a:chOff x="0" y="0"/>
            <a:chExt cx="1097280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0972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Available Annotations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6515100"/>
            <a:ext cx="4114800" cy="2057400"/>
            <a:chOff x="0" y="0"/>
            <a:chExt cx="5486400" cy="2743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4864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376672" y="0"/>
                  </a:lnTo>
                  <a:cubicBezTo>
                    <a:pt x="5437251" y="0"/>
                    <a:pt x="5486400" y="49149"/>
                    <a:pt x="5486400" y="109728"/>
                  </a:cubicBezTo>
                  <a:lnTo>
                    <a:pt x="5486400" y="2633472"/>
                  </a:lnTo>
                  <a:cubicBezTo>
                    <a:pt x="5486400" y="2694051"/>
                    <a:pt x="5437251" y="2743200"/>
                    <a:pt x="537667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331720" y="6789420"/>
            <a:ext cx="1097280" cy="1097280"/>
            <a:chOff x="0" y="0"/>
            <a:chExt cx="1463040" cy="1463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573122" y="7030822"/>
            <a:ext cx="614477" cy="614477"/>
            <a:chOff x="0" y="0"/>
            <a:chExt cx="819302" cy="819302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819277" cy="819277"/>
            </a:xfrm>
            <a:custGeom>
              <a:avLst/>
              <a:gdLst/>
              <a:ahLst/>
              <a:cxnLst/>
              <a:rect r="r" b="b" t="t" l="l"/>
              <a:pathLst>
                <a:path h="819277" w="819277">
                  <a:moveTo>
                    <a:pt x="0" y="0"/>
                  </a:moveTo>
                  <a:lnTo>
                    <a:pt x="819277" y="0"/>
                  </a:lnTo>
                  <a:lnTo>
                    <a:pt x="819277" y="819277"/>
                  </a:lnTo>
                  <a:lnTo>
                    <a:pt x="0" y="819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28700" y="8023860"/>
            <a:ext cx="3703320" cy="480060"/>
            <a:chOff x="0" y="0"/>
            <a:chExt cx="493776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37760" cy="640080"/>
            </a:xfrm>
            <a:custGeom>
              <a:avLst/>
              <a:gdLst/>
              <a:ahLst/>
              <a:cxnLst/>
              <a:rect r="r" b="b" t="t" l="l"/>
              <a:pathLst>
                <a:path h="6400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9377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Radiograph-wise masks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143500" y="6515100"/>
            <a:ext cx="4114800" cy="2057400"/>
            <a:chOff x="0" y="0"/>
            <a:chExt cx="5486400" cy="2743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864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4864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376672" y="0"/>
                  </a:lnTo>
                  <a:cubicBezTo>
                    <a:pt x="5437251" y="0"/>
                    <a:pt x="5486400" y="49149"/>
                    <a:pt x="5486400" y="109728"/>
                  </a:cubicBezTo>
                  <a:lnTo>
                    <a:pt x="5486400" y="2633472"/>
                  </a:lnTo>
                  <a:cubicBezTo>
                    <a:pt x="5486400" y="2694051"/>
                    <a:pt x="5437251" y="2743200"/>
                    <a:pt x="537667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652260" y="6789420"/>
            <a:ext cx="1097280" cy="1097280"/>
            <a:chOff x="0" y="0"/>
            <a:chExt cx="146304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893662" y="7030822"/>
            <a:ext cx="614477" cy="614477"/>
            <a:chOff x="0" y="0"/>
            <a:chExt cx="819302" cy="819302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819277" cy="819277"/>
            </a:xfrm>
            <a:custGeom>
              <a:avLst/>
              <a:gdLst/>
              <a:ahLst/>
              <a:cxnLst/>
              <a:rect r="r" b="b" t="t" l="l"/>
              <a:pathLst>
                <a:path h="819277" w="819277">
                  <a:moveTo>
                    <a:pt x="0" y="0"/>
                  </a:moveTo>
                  <a:lnTo>
                    <a:pt x="819277" y="0"/>
                  </a:lnTo>
                  <a:lnTo>
                    <a:pt x="819277" y="819277"/>
                  </a:lnTo>
                  <a:lnTo>
                    <a:pt x="0" y="819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-3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349240" y="8023860"/>
            <a:ext cx="3703320" cy="480060"/>
            <a:chOff x="0" y="0"/>
            <a:chExt cx="4937760" cy="640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937760" cy="640080"/>
            </a:xfrm>
            <a:custGeom>
              <a:avLst/>
              <a:gdLst/>
              <a:ahLst/>
              <a:cxnLst/>
              <a:rect r="r" b="b" t="t" l="l"/>
              <a:pathLst>
                <a:path h="6400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9377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Tooth-wise masks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464040" y="6515100"/>
            <a:ext cx="4114800" cy="2057400"/>
            <a:chOff x="0" y="0"/>
            <a:chExt cx="5486400" cy="2743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4864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376672" y="0"/>
                  </a:lnTo>
                  <a:cubicBezTo>
                    <a:pt x="5437251" y="0"/>
                    <a:pt x="5486400" y="49149"/>
                    <a:pt x="5486400" y="109728"/>
                  </a:cubicBezTo>
                  <a:lnTo>
                    <a:pt x="5486400" y="2633472"/>
                  </a:lnTo>
                  <a:cubicBezTo>
                    <a:pt x="5486400" y="2694051"/>
                    <a:pt x="5437251" y="2743200"/>
                    <a:pt x="537667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972800" y="6789420"/>
            <a:ext cx="1097280" cy="1097280"/>
            <a:chOff x="0" y="0"/>
            <a:chExt cx="1463040" cy="1463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214202" y="7030822"/>
            <a:ext cx="614477" cy="614477"/>
            <a:chOff x="0" y="0"/>
            <a:chExt cx="819302" cy="819302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819277" cy="819277"/>
            </a:xfrm>
            <a:custGeom>
              <a:avLst/>
              <a:gdLst/>
              <a:ahLst/>
              <a:cxnLst/>
              <a:rect r="r" b="b" t="t" l="l"/>
              <a:pathLst>
                <a:path h="819277" w="819277">
                  <a:moveTo>
                    <a:pt x="0" y="0"/>
                  </a:moveTo>
                  <a:lnTo>
                    <a:pt x="819277" y="0"/>
                  </a:lnTo>
                  <a:lnTo>
                    <a:pt x="819277" y="819277"/>
                  </a:lnTo>
                  <a:lnTo>
                    <a:pt x="0" y="819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" b="-3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69780" y="8023860"/>
            <a:ext cx="3703320" cy="480060"/>
            <a:chOff x="0" y="0"/>
            <a:chExt cx="4937760" cy="640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937760" cy="640080"/>
            </a:xfrm>
            <a:custGeom>
              <a:avLst/>
              <a:gdLst/>
              <a:ahLst/>
              <a:cxnLst/>
              <a:rect r="r" b="b" t="t" l="l"/>
              <a:pathLst>
                <a:path h="6400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9377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CEJ keypoints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784580" y="6515100"/>
            <a:ext cx="4114800" cy="2057400"/>
            <a:chOff x="0" y="0"/>
            <a:chExt cx="5486400" cy="2743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4864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4864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376672" y="0"/>
                  </a:lnTo>
                  <a:cubicBezTo>
                    <a:pt x="5437251" y="0"/>
                    <a:pt x="5486400" y="49149"/>
                    <a:pt x="5486400" y="109728"/>
                  </a:cubicBezTo>
                  <a:lnTo>
                    <a:pt x="5486400" y="2633472"/>
                  </a:lnTo>
                  <a:cubicBezTo>
                    <a:pt x="5486400" y="2694051"/>
                    <a:pt x="5437251" y="2743200"/>
                    <a:pt x="5376672" y="2743200"/>
                  </a:cubicBezTo>
                  <a:lnTo>
                    <a:pt x="109728" y="2743200"/>
                  </a:lnTo>
                  <a:cubicBezTo>
                    <a:pt x="49149" y="2743200"/>
                    <a:pt x="0" y="2694051"/>
                    <a:pt x="0" y="2633472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293340" y="6789420"/>
            <a:ext cx="1097280" cy="1097280"/>
            <a:chOff x="0" y="0"/>
            <a:chExt cx="1463040" cy="14630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5534742" y="7030822"/>
            <a:ext cx="614477" cy="614477"/>
            <a:chOff x="0" y="0"/>
            <a:chExt cx="819302" cy="819302"/>
          </a:xfrm>
        </p:grpSpPr>
        <p:sp>
          <p:nvSpPr>
            <p:cNvPr name="Freeform 68" id="68" descr="preencoded.png"/>
            <p:cNvSpPr/>
            <p:nvPr/>
          </p:nvSpPr>
          <p:spPr>
            <a:xfrm flipH="false" flipV="false" rot="0">
              <a:off x="0" y="0"/>
              <a:ext cx="819277" cy="819277"/>
            </a:xfrm>
            <a:custGeom>
              <a:avLst/>
              <a:gdLst/>
              <a:ahLst/>
              <a:cxnLst/>
              <a:rect r="r" b="b" t="t" l="l"/>
              <a:pathLst>
                <a:path h="819277" w="819277">
                  <a:moveTo>
                    <a:pt x="0" y="0"/>
                  </a:moveTo>
                  <a:lnTo>
                    <a:pt x="819277" y="0"/>
                  </a:lnTo>
                  <a:lnTo>
                    <a:pt x="819277" y="819277"/>
                  </a:lnTo>
                  <a:lnTo>
                    <a:pt x="0" y="819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" b="-3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3990320" y="8023860"/>
            <a:ext cx="3703320" cy="480060"/>
            <a:chOff x="0" y="0"/>
            <a:chExt cx="4937760" cy="640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37760" cy="640080"/>
            </a:xfrm>
            <a:custGeom>
              <a:avLst/>
              <a:gdLst/>
              <a:ahLst/>
              <a:cxnLst/>
              <a:rect r="r" b="b" t="t" l="l"/>
              <a:pathLst>
                <a:path h="6400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9377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Bone-level annotations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0972800" cy="1097280"/>
            <a:chOff x="0" y="0"/>
            <a:chExt cx="146304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Dataset Sample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617220"/>
            <a:ext cx="1371600" cy="1371600"/>
            <a:chOff x="0" y="0"/>
            <a:chExt cx="18288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212312" y="918972"/>
            <a:ext cx="768096" cy="768096"/>
            <a:chOff x="0" y="0"/>
            <a:chExt cx="1024128" cy="102412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13435" y="2459355"/>
            <a:ext cx="5505450" cy="6328410"/>
            <a:chOff x="0" y="0"/>
            <a:chExt cx="7340600" cy="8437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40600" cy="8437880"/>
            </a:xfrm>
            <a:custGeom>
              <a:avLst/>
              <a:gdLst/>
              <a:ahLst/>
              <a:cxnLst/>
              <a:rect r="r" b="b" t="t" l="l"/>
              <a:pathLst>
                <a:path h="8437880" w="7340600">
                  <a:moveTo>
                    <a:pt x="0" y="110109"/>
                  </a:moveTo>
                  <a:cubicBezTo>
                    <a:pt x="0" y="49276"/>
                    <a:pt x="49276" y="0"/>
                    <a:pt x="110109" y="0"/>
                  </a:cubicBezTo>
                  <a:lnTo>
                    <a:pt x="7230491" y="0"/>
                  </a:lnTo>
                  <a:cubicBezTo>
                    <a:pt x="7291324" y="0"/>
                    <a:pt x="7340600" y="49276"/>
                    <a:pt x="7340600" y="110109"/>
                  </a:cubicBezTo>
                  <a:lnTo>
                    <a:pt x="7340600" y="8327771"/>
                  </a:lnTo>
                  <a:cubicBezTo>
                    <a:pt x="7340600" y="8388603"/>
                    <a:pt x="7291324" y="8437880"/>
                    <a:pt x="7230491" y="8437880"/>
                  </a:cubicBezTo>
                  <a:lnTo>
                    <a:pt x="110109" y="8437880"/>
                  </a:lnTo>
                  <a:cubicBezTo>
                    <a:pt x="49276" y="8437880"/>
                    <a:pt x="0" y="8388603"/>
                    <a:pt x="0" y="8327771"/>
                  </a:cubicBezTo>
                  <a:close/>
                </a:path>
              </a:pathLst>
            </a:custGeom>
            <a:solidFill>
              <a:srgbClr val="E8EEF9"/>
            </a:solidFill>
            <a:ln w="19050" cap="sq">
              <a:solidFill>
                <a:srgbClr val="B8CCEE"/>
              </a:solidFill>
              <a:prstDash val="dash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086100" y="4869180"/>
            <a:ext cx="960120" cy="960120"/>
            <a:chOff x="0" y="0"/>
            <a:chExt cx="1280160" cy="1280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297326" y="5080406"/>
            <a:ext cx="537667" cy="537667"/>
            <a:chOff x="0" y="0"/>
            <a:chExt cx="716890" cy="71689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716915" cy="716915"/>
            </a:xfrm>
            <a:custGeom>
              <a:avLst/>
              <a:gdLst/>
              <a:ahLst/>
              <a:cxnLst/>
              <a:rect r="r" b="b" t="t" l="l"/>
              <a:pathLst>
                <a:path h="716915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716915"/>
                  </a:lnTo>
                  <a:lnTo>
                    <a:pt x="0" y="71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5966460"/>
            <a:ext cx="5486400" cy="548640"/>
            <a:chOff x="0" y="0"/>
            <a:chExt cx="73152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Input Image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05575" y="2459355"/>
            <a:ext cx="5505450" cy="6328410"/>
            <a:chOff x="0" y="0"/>
            <a:chExt cx="7340600" cy="8437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40600" cy="8437880"/>
            </a:xfrm>
            <a:custGeom>
              <a:avLst/>
              <a:gdLst/>
              <a:ahLst/>
              <a:cxnLst/>
              <a:rect r="r" b="b" t="t" l="l"/>
              <a:pathLst>
                <a:path h="8437880" w="7340600">
                  <a:moveTo>
                    <a:pt x="0" y="110109"/>
                  </a:moveTo>
                  <a:cubicBezTo>
                    <a:pt x="0" y="49276"/>
                    <a:pt x="49276" y="0"/>
                    <a:pt x="110109" y="0"/>
                  </a:cubicBezTo>
                  <a:lnTo>
                    <a:pt x="7230491" y="0"/>
                  </a:lnTo>
                  <a:cubicBezTo>
                    <a:pt x="7291324" y="0"/>
                    <a:pt x="7340600" y="49276"/>
                    <a:pt x="7340600" y="110109"/>
                  </a:cubicBezTo>
                  <a:lnTo>
                    <a:pt x="7340600" y="8327771"/>
                  </a:lnTo>
                  <a:cubicBezTo>
                    <a:pt x="7340600" y="8388603"/>
                    <a:pt x="7291324" y="8437880"/>
                    <a:pt x="7230491" y="8437880"/>
                  </a:cubicBezTo>
                  <a:lnTo>
                    <a:pt x="110109" y="8437880"/>
                  </a:lnTo>
                  <a:cubicBezTo>
                    <a:pt x="49276" y="8437880"/>
                    <a:pt x="0" y="8388603"/>
                    <a:pt x="0" y="8327771"/>
                  </a:cubicBezTo>
                  <a:close/>
                </a:path>
              </a:pathLst>
            </a:custGeom>
            <a:solidFill>
              <a:srgbClr val="E8EEF9"/>
            </a:solidFill>
            <a:ln w="19050" cap="sq">
              <a:solidFill>
                <a:srgbClr val="B8CCEE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778240" y="4869180"/>
            <a:ext cx="960120" cy="960120"/>
            <a:chOff x="0" y="0"/>
            <a:chExt cx="1280160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989466" y="5080406"/>
            <a:ext cx="537667" cy="537667"/>
            <a:chOff x="0" y="0"/>
            <a:chExt cx="716890" cy="71689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716915" cy="716915"/>
            </a:xfrm>
            <a:custGeom>
              <a:avLst/>
              <a:gdLst/>
              <a:ahLst/>
              <a:cxnLst/>
              <a:rect r="r" b="b" t="t" l="l"/>
              <a:pathLst>
                <a:path h="716915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716915"/>
                  </a:lnTo>
                  <a:lnTo>
                    <a:pt x="0" y="71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15100" y="5966460"/>
            <a:ext cx="5486400" cy="548640"/>
            <a:chOff x="0" y="0"/>
            <a:chExt cx="731520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Mask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197715" y="2459355"/>
            <a:ext cx="5505450" cy="6328410"/>
            <a:chOff x="0" y="0"/>
            <a:chExt cx="7340600" cy="8437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0600" cy="8437880"/>
            </a:xfrm>
            <a:custGeom>
              <a:avLst/>
              <a:gdLst/>
              <a:ahLst/>
              <a:cxnLst/>
              <a:rect r="r" b="b" t="t" l="l"/>
              <a:pathLst>
                <a:path h="8437880" w="7340600">
                  <a:moveTo>
                    <a:pt x="0" y="110109"/>
                  </a:moveTo>
                  <a:cubicBezTo>
                    <a:pt x="0" y="49276"/>
                    <a:pt x="49276" y="0"/>
                    <a:pt x="110109" y="0"/>
                  </a:cubicBezTo>
                  <a:lnTo>
                    <a:pt x="7230491" y="0"/>
                  </a:lnTo>
                  <a:cubicBezTo>
                    <a:pt x="7291324" y="0"/>
                    <a:pt x="7340600" y="49276"/>
                    <a:pt x="7340600" y="110109"/>
                  </a:cubicBezTo>
                  <a:lnTo>
                    <a:pt x="7340600" y="8327771"/>
                  </a:lnTo>
                  <a:cubicBezTo>
                    <a:pt x="7340600" y="8388603"/>
                    <a:pt x="7291324" y="8437880"/>
                    <a:pt x="7230491" y="8437880"/>
                  </a:cubicBezTo>
                  <a:lnTo>
                    <a:pt x="110109" y="8437880"/>
                  </a:lnTo>
                  <a:cubicBezTo>
                    <a:pt x="49276" y="8437880"/>
                    <a:pt x="0" y="8388603"/>
                    <a:pt x="0" y="8327771"/>
                  </a:cubicBezTo>
                  <a:close/>
                </a:path>
              </a:pathLst>
            </a:custGeom>
            <a:solidFill>
              <a:srgbClr val="E8EEF9"/>
            </a:solidFill>
            <a:ln w="19050" cap="sq">
              <a:solidFill>
                <a:srgbClr val="B8CCEE"/>
              </a:solidFill>
              <a:prstDash val="dash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4470380" y="4869180"/>
            <a:ext cx="960120" cy="960120"/>
            <a:chOff x="0" y="0"/>
            <a:chExt cx="1280160" cy="12801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681606" y="5080406"/>
            <a:ext cx="537667" cy="537667"/>
            <a:chOff x="0" y="0"/>
            <a:chExt cx="716890" cy="71689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716915" cy="716915"/>
            </a:xfrm>
            <a:custGeom>
              <a:avLst/>
              <a:gdLst/>
              <a:ahLst/>
              <a:cxnLst/>
              <a:rect r="r" b="b" t="t" l="l"/>
              <a:pathLst>
                <a:path h="716915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716915"/>
                  </a:lnTo>
                  <a:lnTo>
                    <a:pt x="0" y="71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207240" y="5966460"/>
            <a:ext cx="5486400" cy="548640"/>
            <a:chOff x="0" y="0"/>
            <a:chExt cx="731520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CEJ / Bone Annotations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8983980"/>
            <a:ext cx="16596360" cy="548640"/>
            <a:chOff x="0" y="0"/>
            <a:chExt cx="2212848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Add screenshots from notebook output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2344400" cy="1097280"/>
            <a:chOff x="0" y="0"/>
            <a:chExt cx="164592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459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Weak Grade Generation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617220"/>
            <a:ext cx="1371600" cy="1371600"/>
            <a:chOff x="0" y="0"/>
            <a:chExt cx="18288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212312" y="918972"/>
            <a:ext cx="768096" cy="768096"/>
            <a:chOff x="0" y="0"/>
            <a:chExt cx="1024128" cy="102412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2194560"/>
            <a:ext cx="16596360" cy="1645920"/>
            <a:chOff x="0" y="0"/>
            <a:chExt cx="2212848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048256"/>
                  </a:lnTo>
                  <a:cubicBezTo>
                    <a:pt x="22128480" y="2129028"/>
                    <a:pt x="22062948" y="2194560"/>
                    <a:pt x="21982176" y="2194560"/>
                  </a:cubicBezTo>
                  <a:lnTo>
                    <a:pt x="146304" y="2194560"/>
                  </a:lnTo>
                  <a:cubicBezTo>
                    <a:pt x="65532" y="2194560"/>
                    <a:pt x="0" y="2129028"/>
                    <a:pt x="0" y="2048256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00" y="2194560"/>
            <a:ext cx="15499080" cy="1645920"/>
            <a:chOff x="0" y="0"/>
            <a:chExt cx="20665440" cy="219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654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484" r="0" b="-1334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066544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CEJ–Bone Distance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4251960"/>
            <a:ext cx="9875520" cy="1440180"/>
            <a:chOff x="0" y="0"/>
            <a:chExt cx="13167360" cy="1920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67361" cy="1920240"/>
            </a:xfrm>
            <a:custGeom>
              <a:avLst/>
              <a:gdLst/>
              <a:ahLst/>
              <a:cxnLst/>
              <a:rect r="r" b="b" t="t" l="l"/>
              <a:pathLst>
                <a:path h="1920240" w="13167361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3057632" y="0"/>
                  </a:lnTo>
                  <a:cubicBezTo>
                    <a:pt x="13118212" y="0"/>
                    <a:pt x="13167361" y="49149"/>
                    <a:pt x="13167361" y="109728"/>
                  </a:cubicBezTo>
                  <a:lnTo>
                    <a:pt x="13167361" y="1810512"/>
                  </a:lnTo>
                  <a:cubicBezTo>
                    <a:pt x="13167361" y="1871091"/>
                    <a:pt x="13118212" y="1920240"/>
                    <a:pt x="130576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4251960"/>
            <a:ext cx="8778240" cy="1440180"/>
            <a:chOff x="0" y="0"/>
            <a:chExt cx="11704320" cy="1920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043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765" r="0" b="-6876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7043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distance &lt; 20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85170" y="4946142"/>
            <a:ext cx="861060" cy="38100"/>
            <a:chOff x="0" y="0"/>
            <a:chExt cx="1148080" cy="5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48080" cy="50800"/>
            </a:xfrm>
            <a:custGeom>
              <a:avLst/>
              <a:gdLst/>
              <a:ahLst/>
              <a:cxnLst/>
              <a:rect r="r" b="b" t="t" l="l"/>
              <a:pathLst>
                <a:path h="50800" w="1148080">
                  <a:moveTo>
                    <a:pt x="0" y="0"/>
                  </a:moveTo>
                  <a:lnTo>
                    <a:pt x="114808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390361" r="0" b="-390361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923395" y="4242435"/>
            <a:ext cx="5505450" cy="1459230"/>
            <a:chOff x="0" y="0"/>
            <a:chExt cx="7340600" cy="1945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40600" cy="1945640"/>
            </a:xfrm>
            <a:custGeom>
              <a:avLst/>
              <a:gdLst/>
              <a:ahLst/>
              <a:cxnLst/>
              <a:rect r="r" b="b" t="t" l="l"/>
              <a:pathLst>
                <a:path h="1945640" w="734060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7229475" y="0"/>
                  </a:lnTo>
                  <a:cubicBezTo>
                    <a:pt x="7290816" y="0"/>
                    <a:pt x="7340600" y="49784"/>
                    <a:pt x="7340600" y="111125"/>
                  </a:cubicBezTo>
                  <a:lnTo>
                    <a:pt x="7340600" y="1834515"/>
                  </a:lnTo>
                  <a:cubicBezTo>
                    <a:pt x="7340600" y="1895856"/>
                    <a:pt x="7290816" y="1945640"/>
                    <a:pt x="7229475" y="1945640"/>
                  </a:cubicBezTo>
                  <a:lnTo>
                    <a:pt x="111125" y="1945640"/>
                  </a:lnTo>
                  <a:cubicBezTo>
                    <a:pt x="49784" y="1945640"/>
                    <a:pt x="0" y="1895856"/>
                    <a:pt x="0" y="1834515"/>
                  </a:cubicBezTo>
                  <a:close/>
                </a:path>
              </a:pathLst>
            </a:custGeom>
            <a:solidFill>
              <a:srgbClr val="F4F8FE"/>
            </a:solidFill>
            <a:ln w="19050" cap="sq">
              <a:solidFill>
                <a:srgbClr val="D0DCF5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932920" y="4251960"/>
            <a:ext cx="5486400" cy="1440180"/>
            <a:chOff x="0" y="0"/>
            <a:chExt cx="7315200" cy="1920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31520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Grade 0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5966460"/>
            <a:ext cx="9875520" cy="1440180"/>
            <a:chOff x="0" y="0"/>
            <a:chExt cx="13167360" cy="1920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167361" cy="1920240"/>
            </a:xfrm>
            <a:custGeom>
              <a:avLst/>
              <a:gdLst/>
              <a:ahLst/>
              <a:cxnLst/>
              <a:rect r="r" b="b" t="t" l="l"/>
              <a:pathLst>
                <a:path h="1920240" w="13167361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3057632" y="0"/>
                  </a:lnTo>
                  <a:cubicBezTo>
                    <a:pt x="13118212" y="0"/>
                    <a:pt x="13167361" y="49149"/>
                    <a:pt x="13167361" y="109728"/>
                  </a:cubicBezTo>
                  <a:lnTo>
                    <a:pt x="13167361" y="1810512"/>
                  </a:lnTo>
                  <a:cubicBezTo>
                    <a:pt x="13167361" y="1871091"/>
                    <a:pt x="13118212" y="1920240"/>
                    <a:pt x="130576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9FB8E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71600" y="5966460"/>
            <a:ext cx="8778240" cy="1440180"/>
            <a:chOff x="0" y="0"/>
            <a:chExt cx="11704320" cy="1920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7043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765" r="0" b="-6876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17043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 ≤ distance &lt; 50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85170" y="6660642"/>
            <a:ext cx="861060" cy="38100"/>
            <a:chOff x="0" y="0"/>
            <a:chExt cx="1148080" cy="50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48080" cy="50800"/>
            </a:xfrm>
            <a:custGeom>
              <a:avLst/>
              <a:gdLst/>
              <a:ahLst/>
              <a:cxnLst/>
              <a:rect r="r" b="b" t="t" l="l"/>
              <a:pathLst>
                <a:path h="50800" w="1148080">
                  <a:moveTo>
                    <a:pt x="0" y="0"/>
                  </a:moveTo>
                  <a:lnTo>
                    <a:pt x="114808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390361" r="0" b="-390361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923395" y="5956935"/>
            <a:ext cx="5505450" cy="1459230"/>
            <a:chOff x="0" y="0"/>
            <a:chExt cx="7340600" cy="1945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40600" cy="1945640"/>
            </a:xfrm>
            <a:custGeom>
              <a:avLst/>
              <a:gdLst/>
              <a:ahLst/>
              <a:cxnLst/>
              <a:rect r="r" b="b" t="t" l="l"/>
              <a:pathLst>
                <a:path h="1945640" w="734060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7229475" y="0"/>
                  </a:lnTo>
                  <a:cubicBezTo>
                    <a:pt x="7290816" y="0"/>
                    <a:pt x="7340600" y="49784"/>
                    <a:pt x="7340600" y="111125"/>
                  </a:cubicBezTo>
                  <a:lnTo>
                    <a:pt x="7340600" y="1834515"/>
                  </a:lnTo>
                  <a:cubicBezTo>
                    <a:pt x="7340600" y="1895856"/>
                    <a:pt x="7290816" y="1945640"/>
                    <a:pt x="7229475" y="1945640"/>
                  </a:cubicBezTo>
                  <a:lnTo>
                    <a:pt x="111125" y="1945640"/>
                  </a:lnTo>
                  <a:cubicBezTo>
                    <a:pt x="49784" y="1945640"/>
                    <a:pt x="0" y="1895856"/>
                    <a:pt x="0" y="1834515"/>
                  </a:cubicBezTo>
                  <a:close/>
                </a:path>
              </a:pathLst>
            </a:custGeom>
            <a:solidFill>
              <a:srgbClr val="F4F8FE"/>
            </a:solidFill>
            <a:ln w="19050" cap="sq">
              <a:solidFill>
                <a:srgbClr val="D0DCF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932920" y="5966460"/>
            <a:ext cx="5486400" cy="1440180"/>
            <a:chOff x="0" y="0"/>
            <a:chExt cx="7315200" cy="1920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731520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Grade 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960" y="7680960"/>
            <a:ext cx="9875520" cy="1440180"/>
            <a:chOff x="0" y="0"/>
            <a:chExt cx="13167360" cy="1920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167361" cy="1920240"/>
            </a:xfrm>
            <a:custGeom>
              <a:avLst/>
              <a:gdLst/>
              <a:ahLst/>
              <a:cxnLst/>
              <a:rect r="r" b="b" t="t" l="l"/>
              <a:pathLst>
                <a:path h="1920240" w="13167361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3057632" y="0"/>
                  </a:lnTo>
                  <a:cubicBezTo>
                    <a:pt x="13118212" y="0"/>
                    <a:pt x="13167361" y="49149"/>
                    <a:pt x="13167361" y="109728"/>
                  </a:cubicBezTo>
                  <a:lnTo>
                    <a:pt x="13167361" y="1810512"/>
                  </a:lnTo>
                  <a:cubicBezTo>
                    <a:pt x="13167361" y="1871091"/>
                    <a:pt x="13118212" y="1920240"/>
                    <a:pt x="130576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71600" y="7680960"/>
            <a:ext cx="8778240" cy="1440180"/>
            <a:chOff x="0" y="0"/>
            <a:chExt cx="11704320" cy="1920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7043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765" r="0" b="-6876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17043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distance ≥ 50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885170" y="8375142"/>
            <a:ext cx="861060" cy="38100"/>
            <a:chOff x="0" y="0"/>
            <a:chExt cx="1148080" cy="50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48080" cy="50800"/>
            </a:xfrm>
            <a:custGeom>
              <a:avLst/>
              <a:gdLst/>
              <a:ahLst/>
              <a:cxnLst/>
              <a:rect r="r" b="b" t="t" l="l"/>
              <a:pathLst>
                <a:path h="50800" w="1148080">
                  <a:moveTo>
                    <a:pt x="0" y="0"/>
                  </a:moveTo>
                  <a:lnTo>
                    <a:pt x="114808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390361" r="0" b="-390361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923395" y="7671435"/>
            <a:ext cx="5505450" cy="1459230"/>
            <a:chOff x="0" y="0"/>
            <a:chExt cx="7340600" cy="1945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40600" cy="1945640"/>
            </a:xfrm>
            <a:custGeom>
              <a:avLst/>
              <a:gdLst/>
              <a:ahLst/>
              <a:cxnLst/>
              <a:rect r="r" b="b" t="t" l="l"/>
              <a:pathLst>
                <a:path h="1945640" w="734060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7229475" y="0"/>
                  </a:lnTo>
                  <a:cubicBezTo>
                    <a:pt x="7290816" y="0"/>
                    <a:pt x="7340600" y="49784"/>
                    <a:pt x="7340600" y="111125"/>
                  </a:cubicBezTo>
                  <a:lnTo>
                    <a:pt x="7340600" y="1834515"/>
                  </a:lnTo>
                  <a:cubicBezTo>
                    <a:pt x="7340600" y="1895856"/>
                    <a:pt x="7290816" y="1945640"/>
                    <a:pt x="7229475" y="1945640"/>
                  </a:cubicBezTo>
                  <a:lnTo>
                    <a:pt x="111125" y="1945640"/>
                  </a:lnTo>
                  <a:cubicBezTo>
                    <a:pt x="49784" y="1945640"/>
                    <a:pt x="0" y="1895856"/>
                    <a:pt x="0" y="1834515"/>
                  </a:cubicBezTo>
                  <a:close/>
                </a:path>
              </a:pathLst>
            </a:custGeom>
            <a:solidFill>
              <a:srgbClr val="F4F8FE"/>
            </a:solidFill>
            <a:ln w="19050" cap="sq">
              <a:solidFill>
                <a:srgbClr val="D0DCF5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932920" y="7680960"/>
            <a:ext cx="5486400" cy="1440180"/>
            <a:chOff x="0" y="0"/>
            <a:chExt cx="7315200" cy="1920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731520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Grade 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9395460"/>
            <a:ext cx="16596360" cy="548640"/>
            <a:chOff x="0" y="0"/>
            <a:chExt cx="2212848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2128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Weak labels were automatically generated from anatomical measurements.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0972800" cy="1097280"/>
            <a:chOff x="0" y="0"/>
            <a:chExt cx="146304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Model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06640" y="2057400"/>
            <a:ext cx="3429000" cy="1371600"/>
            <a:chOff x="0" y="0"/>
            <a:chExt cx="45720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2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572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425696" y="0"/>
                  </a:lnTo>
                  <a:cubicBezTo>
                    <a:pt x="4506468" y="0"/>
                    <a:pt x="4572000" y="65532"/>
                    <a:pt x="4572000" y="146304"/>
                  </a:cubicBezTo>
                  <a:lnTo>
                    <a:pt x="4572000" y="1682496"/>
                  </a:lnTo>
                  <a:cubicBezTo>
                    <a:pt x="4572000" y="1763268"/>
                    <a:pt x="4506468" y="1828800"/>
                    <a:pt x="442569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43800" y="1842135"/>
            <a:ext cx="3429000" cy="1371600"/>
            <a:chOff x="0" y="0"/>
            <a:chExt cx="45720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2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720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X-ray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02090" y="3409950"/>
            <a:ext cx="38100" cy="792480"/>
            <a:chOff x="0" y="0"/>
            <a:chExt cx="50800" cy="1056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" cy="1056640"/>
            </a:xfrm>
            <a:custGeom>
              <a:avLst/>
              <a:gdLst/>
              <a:ahLst/>
              <a:cxnLst/>
              <a:rect r="r" b="b" t="t" l="l"/>
              <a:pathLst>
                <a:path h="1056640" w="50800">
                  <a:moveTo>
                    <a:pt x="0" y="0"/>
                  </a:moveTo>
                  <a:lnTo>
                    <a:pt x="50800" y="1056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618714" t="0" r="-2618714" b="0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720840" y="4183380"/>
            <a:ext cx="4800600" cy="1508760"/>
            <a:chOff x="0" y="0"/>
            <a:chExt cx="6400800" cy="2011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008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400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254496" y="0"/>
                  </a:lnTo>
                  <a:cubicBezTo>
                    <a:pt x="6335268" y="0"/>
                    <a:pt x="6400800" y="65532"/>
                    <a:pt x="6400800" y="146304"/>
                  </a:cubicBezTo>
                  <a:lnTo>
                    <a:pt x="6400800" y="1865376"/>
                  </a:lnTo>
                  <a:cubicBezTo>
                    <a:pt x="6400800" y="1946148"/>
                    <a:pt x="6335268" y="2011680"/>
                    <a:pt x="6254496" y="2011680"/>
                  </a:cubicBezTo>
                  <a:lnTo>
                    <a:pt x="146304" y="2011680"/>
                  </a:lnTo>
                  <a:cubicBezTo>
                    <a:pt x="65532" y="2011680"/>
                    <a:pt x="0" y="1946148"/>
                    <a:pt x="0" y="186537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720840" y="4183380"/>
            <a:ext cx="4800600" cy="1508760"/>
            <a:chOff x="0" y="0"/>
            <a:chExt cx="6400800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08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40080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Shared Encoder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22330" y="5673090"/>
            <a:ext cx="2781300" cy="929640"/>
            <a:chOff x="0" y="0"/>
            <a:chExt cx="3708400" cy="1239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08400" cy="1239520"/>
            </a:xfrm>
            <a:custGeom>
              <a:avLst/>
              <a:gdLst/>
              <a:ahLst/>
              <a:cxnLst/>
              <a:rect r="r" b="b" t="t" l="l"/>
              <a:pathLst>
                <a:path h="1239520" w="3708400">
                  <a:moveTo>
                    <a:pt x="0" y="0"/>
                  </a:moveTo>
                  <a:lnTo>
                    <a:pt x="3708400" y="12395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8295" r="0" b="-8295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920240" y="6583680"/>
            <a:ext cx="5486400" cy="1371600"/>
            <a:chOff x="0" y="0"/>
            <a:chExt cx="731520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315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168896" y="0"/>
                  </a:lnTo>
                  <a:cubicBezTo>
                    <a:pt x="7249668" y="0"/>
                    <a:pt x="7315200" y="65532"/>
                    <a:pt x="7315200" y="146304"/>
                  </a:cubicBezTo>
                  <a:lnTo>
                    <a:pt x="7315200" y="1682496"/>
                  </a:lnTo>
                  <a:cubicBezTo>
                    <a:pt x="7315200" y="1763268"/>
                    <a:pt x="7249668" y="1828800"/>
                    <a:pt x="716889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920240" y="6583680"/>
            <a:ext cx="5486400" cy="1371600"/>
            <a:chOff x="0" y="0"/>
            <a:chExt cx="731520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315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Segmentation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Decoder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644390" y="7936230"/>
            <a:ext cx="38100" cy="792480"/>
            <a:chOff x="0" y="0"/>
            <a:chExt cx="50800" cy="1056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" cy="1056640"/>
            </a:xfrm>
            <a:custGeom>
              <a:avLst/>
              <a:gdLst/>
              <a:ahLst/>
              <a:cxnLst/>
              <a:rect r="r" b="b" t="t" l="l"/>
              <a:pathLst>
                <a:path h="1056640" w="50800">
                  <a:moveTo>
                    <a:pt x="0" y="0"/>
                  </a:moveTo>
                  <a:lnTo>
                    <a:pt x="50800" y="1056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618714" t="0" r="-2618714" b="0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920240" y="8778240"/>
            <a:ext cx="5486400" cy="1165860"/>
            <a:chOff x="0" y="0"/>
            <a:chExt cx="731520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315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168896" y="0"/>
                  </a:lnTo>
                  <a:cubicBezTo>
                    <a:pt x="7249668" y="0"/>
                    <a:pt x="7315200" y="65532"/>
                    <a:pt x="7315200" y="146304"/>
                  </a:cubicBezTo>
                  <a:lnTo>
                    <a:pt x="7315200" y="1408176"/>
                  </a:lnTo>
                  <a:cubicBezTo>
                    <a:pt x="7315200" y="1488948"/>
                    <a:pt x="7249668" y="1554480"/>
                    <a:pt x="716889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20240" y="8778240"/>
            <a:ext cx="5486400" cy="1165860"/>
            <a:chOff x="0" y="0"/>
            <a:chExt cx="731520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694" r="0" b="-4169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731520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Mask Prediction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0" y="6583680"/>
            <a:ext cx="5486400" cy="1371600"/>
            <a:chOff x="0" y="0"/>
            <a:chExt cx="731520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315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168896" y="0"/>
                  </a:lnTo>
                  <a:cubicBezTo>
                    <a:pt x="7249668" y="0"/>
                    <a:pt x="7315200" y="65532"/>
                    <a:pt x="7315200" y="146304"/>
                  </a:cubicBezTo>
                  <a:lnTo>
                    <a:pt x="7315200" y="1682496"/>
                  </a:lnTo>
                  <a:cubicBezTo>
                    <a:pt x="7315200" y="1763268"/>
                    <a:pt x="7249668" y="1828800"/>
                    <a:pt x="716889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972800" y="6583680"/>
            <a:ext cx="5486400" cy="1371600"/>
            <a:chOff x="0" y="0"/>
            <a:chExt cx="7315200" cy="1828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315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696950" y="7936230"/>
            <a:ext cx="38100" cy="792480"/>
            <a:chOff x="0" y="0"/>
            <a:chExt cx="50800" cy="1056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800" cy="1056640"/>
            </a:xfrm>
            <a:custGeom>
              <a:avLst/>
              <a:gdLst/>
              <a:ahLst/>
              <a:cxnLst/>
              <a:rect r="r" b="b" t="t" l="l"/>
              <a:pathLst>
                <a:path h="1056640" w="50800">
                  <a:moveTo>
                    <a:pt x="0" y="0"/>
                  </a:moveTo>
                  <a:lnTo>
                    <a:pt x="50800" y="1056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618714" t="0" r="-2618714" b="0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972800" y="8778240"/>
            <a:ext cx="5486400" cy="1165860"/>
            <a:chOff x="0" y="0"/>
            <a:chExt cx="7315200" cy="15544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315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168896" y="0"/>
                  </a:lnTo>
                  <a:cubicBezTo>
                    <a:pt x="7249668" y="0"/>
                    <a:pt x="7315200" y="65532"/>
                    <a:pt x="7315200" y="146304"/>
                  </a:cubicBezTo>
                  <a:lnTo>
                    <a:pt x="7315200" y="1408176"/>
                  </a:lnTo>
                  <a:cubicBezTo>
                    <a:pt x="7315200" y="1488948"/>
                    <a:pt x="7249668" y="1554480"/>
                    <a:pt x="716889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72800" y="8778240"/>
            <a:ext cx="5486400" cy="1165860"/>
            <a:chOff x="0" y="0"/>
            <a:chExt cx="7315200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694" r="0" b="-4169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731520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Grade Prediction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167360" y="822960"/>
            <a:ext cx="4251960" cy="548640"/>
            <a:chOff x="0" y="0"/>
            <a:chExt cx="566928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669280" cy="731520"/>
            </a:xfrm>
            <a:custGeom>
              <a:avLst/>
              <a:gdLst/>
              <a:ahLst/>
              <a:cxnLst/>
              <a:rect r="r" b="b" t="t" l="l"/>
              <a:pathLst>
                <a:path h="7315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669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b="true" sz="2400" i="true">
                  <a:solidFill>
                    <a:srgbClr val="0288D1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Multi-Task U-Net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5489BB">
                <a:alpha val="100000"/>
              </a:srgbClr>
            </a:gs>
            <a:gs pos="33333">
              <a:srgbClr val="31B4CB">
                <a:alpha val="100000"/>
              </a:srgbClr>
            </a:gs>
            <a:gs pos="66667">
              <a:srgbClr val="E8E8E8">
                <a:alpha val="100000"/>
              </a:srgbClr>
            </a:gs>
            <a:gs pos="100000">
              <a:srgbClr val="F8F6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700333" y="8924925"/>
            <a:ext cx="455896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2100" spc="8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4632" y="609600"/>
            <a:ext cx="778166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Experimental</a:t>
            </a:r>
            <a:r>
              <a:rPr lang="en-US" b="true" sz="54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 </a:t>
            </a:r>
            <a:r>
              <a:rPr lang="en-US" b="true" sz="54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Setu</a:t>
            </a:r>
            <a:r>
              <a:rPr lang="en-US" b="true" sz="5400" strike="noStrike" u="non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14632" y="1914525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ln w="19050" cap="rnd">
              <a:solidFill>
                <a:srgbClr val="64748B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57900" y="1655445"/>
            <a:ext cx="5276850" cy="3345180"/>
            <a:chOff x="0" y="0"/>
            <a:chExt cx="1389788" cy="8810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89788" cy="881035"/>
            </a:xfrm>
            <a:custGeom>
              <a:avLst/>
              <a:gdLst/>
              <a:ahLst/>
              <a:cxnLst/>
              <a:rect r="r" b="b" t="t" l="l"/>
              <a:pathLst>
                <a:path h="881035" w="1389788">
                  <a:moveTo>
                    <a:pt x="74274" y="0"/>
                  </a:moveTo>
                  <a:lnTo>
                    <a:pt x="1315513" y="0"/>
                  </a:lnTo>
                  <a:cubicBezTo>
                    <a:pt x="1335212" y="0"/>
                    <a:pt x="1354104" y="7825"/>
                    <a:pt x="1368033" y="21754"/>
                  </a:cubicBezTo>
                  <a:cubicBezTo>
                    <a:pt x="1381962" y="35684"/>
                    <a:pt x="1389788" y="54576"/>
                    <a:pt x="1389788" y="74274"/>
                  </a:cubicBezTo>
                  <a:lnTo>
                    <a:pt x="1389788" y="806761"/>
                  </a:lnTo>
                  <a:cubicBezTo>
                    <a:pt x="1389788" y="847781"/>
                    <a:pt x="1356534" y="881035"/>
                    <a:pt x="1315513" y="881035"/>
                  </a:cubicBezTo>
                  <a:lnTo>
                    <a:pt x="74274" y="881035"/>
                  </a:lnTo>
                  <a:cubicBezTo>
                    <a:pt x="54576" y="881035"/>
                    <a:pt x="35684" y="873210"/>
                    <a:pt x="21754" y="859281"/>
                  </a:cubicBezTo>
                  <a:cubicBezTo>
                    <a:pt x="7825" y="845352"/>
                    <a:pt x="0" y="826460"/>
                    <a:pt x="0" y="806761"/>
                  </a:cubicBezTo>
                  <a:lnTo>
                    <a:pt x="0" y="74274"/>
                  </a:lnTo>
                  <a:cubicBezTo>
                    <a:pt x="0" y="54576"/>
                    <a:pt x="7825" y="35684"/>
                    <a:pt x="21754" y="21754"/>
                  </a:cubicBezTo>
                  <a:cubicBezTo>
                    <a:pt x="35684" y="7825"/>
                    <a:pt x="54576" y="0"/>
                    <a:pt x="74274" y="0"/>
                  </a:cubicBezTo>
                  <a:close/>
                </a:path>
              </a:pathLst>
            </a:custGeom>
            <a:ln w="19050" cap="rnd">
              <a:solidFill>
                <a:srgbClr val="64748B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389788" cy="90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986169" y="1676400"/>
            <a:ext cx="6082866" cy="3562350"/>
            <a:chOff x="0" y="0"/>
            <a:chExt cx="1602072" cy="9382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02072" cy="938232"/>
            </a:xfrm>
            <a:custGeom>
              <a:avLst/>
              <a:gdLst/>
              <a:ahLst/>
              <a:cxnLst/>
              <a:rect r="r" b="b" t="t" l="l"/>
              <a:pathLst>
                <a:path h="938232" w="1602072">
                  <a:moveTo>
                    <a:pt x="64433" y="0"/>
                  </a:moveTo>
                  <a:lnTo>
                    <a:pt x="1537639" y="0"/>
                  </a:lnTo>
                  <a:cubicBezTo>
                    <a:pt x="1573224" y="0"/>
                    <a:pt x="1602072" y="28847"/>
                    <a:pt x="1602072" y="64433"/>
                  </a:cubicBezTo>
                  <a:lnTo>
                    <a:pt x="1602072" y="873799"/>
                  </a:lnTo>
                  <a:cubicBezTo>
                    <a:pt x="1602072" y="909385"/>
                    <a:pt x="1573224" y="938232"/>
                    <a:pt x="1537639" y="938232"/>
                  </a:cubicBezTo>
                  <a:lnTo>
                    <a:pt x="64433" y="938232"/>
                  </a:lnTo>
                  <a:cubicBezTo>
                    <a:pt x="28847" y="938232"/>
                    <a:pt x="0" y="909385"/>
                    <a:pt x="0" y="873799"/>
                  </a:cubicBezTo>
                  <a:lnTo>
                    <a:pt x="0" y="64433"/>
                  </a:lnTo>
                  <a:cubicBezTo>
                    <a:pt x="0" y="28847"/>
                    <a:pt x="28847" y="0"/>
                    <a:pt x="64433" y="0"/>
                  </a:cubicBezTo>
                  <a:close/>
                </a:path>
              </a:pathLst>
            </a:custGeom>
            <a:ln w="19050" cap="rnd">
              <a:solidFill>
                <a:srgbClr val="64748B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02072" cy="957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88472" y="5405408"/>
            <a:ext cx="4034922" cy="3725660"/>
            <a:chOff x="0" y="0"/>
            <a:chExt cx="1607015" cy="14838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07015" cy="1483844"/>
            </a:xfrm>
            <a:custGeom>
              <a:avLst/>
              <a:gdLst/>
              <a:ahLst/>
              <a:cxnLst/>
              <a:rect r="r" b="b" t="t" l="l"/>
              <a:pathLst>
                <a:path h="1483844" w="1607015">
                  <a:moveTo>
                    <a:pt x="97136" y="0"/>
                  </a:moveTo>
                  <a:lnTo>
                    <a:pt x="1509880" y="0"/>
                  </a:lnTo>
                  <a:cubicBezTo>
                    <a:pt x="1563526" y="0"/>
                    <a:pt x="1607015" y="43489"/>
                    <a:pt x="1607015" y="97136"/>
                  </a:cubicBezTo>
                  <a:lnTo>
                    <a:pt x="1607015" y="1386708"/>
                  </a:lnTo>
                  <a:cubicBezTo>
                    <a:pt x="1607015" y="1412470"/>
                    <a:pt x="1596781" y="1437177"/>
                    <a:pt x="1578565" y="1455393"/>
                  </a:cubicBezTo>
                  <a:cubicBezTo>
                    <a:pt x="1560348" y="1473610"/>
                    <a:pt x="1535642" y="1483844"/>
                    <a:pt x="1509880" y="1483844"/>
                  </a:cubicBezTo>
                  <a:lnTo>
                    <a:pt x="97136" y="1483844"/>
                  </a:lnTo>
                  <a:cubicBezTo>
                    <a:pt x="71374" y="1483844"/>
                    <a:pt x="46667" y="1473610"/>
                    <a:pt x="28450" y="1455393"/>
                  </a:cubicBezTo>
                  <a:cubicBezTo>
                    <a:pt x="10234" y="1437177"/>
                    <a:pt x="0" y="1412470"/>
                    <a:pt x="0" y="1386708"/>
                  </a:cubicBezTo>
                  <a:lnTo>
                    <a:pt x="0" y="97136"/>
                  </a:lnTo>
                  <a:cubicBezTo>
                    <a:pt x="0" y="71374"/>
                    <a:pt x="10234" y="46667"/>
                    <a:pt x="28450" y="28450"/>
                  </a:cubicBezTo>
                  <a:cubicBezTo>
                    <a:pt x="46667" y="10234"/>
                    <a:pt x="71374" y="0"/>
                    <a:pt x="97136" y="0"/>
                  </a:cubicBezTo>
                  <a:close/>
                </a:path>
              </a:pathLst>
            </a:custGeom>
            <a:ln w="19050" cap="rnd">
              <a:solidFill>
                <a:srgbClr val="0288D1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607015" cy="1502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90671" y="3103245"/>
            <a:ext cx="2206404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4599" strike="noStrike" u="non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PyTorch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953250" y="2414140"/>
            <a:ext cx="3629422" cy="1568711"/>
            <a:chOff x="0" y="0"/>
            <a:chExt cx="4839229" cy="209161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069264"/>
              <a:ext cx="4839229" cy="102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19"/>
                </a:lnSpc>
                <a:spcBef>
                  <a:spcPct val="0"/>
                </a:spcBef>
              </a:pPr>
              <a:r>
                <a:rPr lang="en-US" b="true" sz="45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Colab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95250"/>
              <a:ext cx="4449098" cy="102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19"/>
                </a:lnSpc>
                <a:spcBef>
                  <a:spcPct val="0"/>
                </a:spcBef>
              </a:pPr>
              <a:r>
                <a:rPr lang="en-US" b="true" sz="45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T4 GPU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700333" y="1907157"/>
            <a:ext cx="5005326" cy="3093468"/>
            <a:chOff x="0" y="0"/>
            <a:chExt cx="6673768" cy="4124624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2175174"/>
              <a:ext cx="5573886" cy="194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19"/>
                </a:lnSpc>
                <a:spcBef>
                  <a:spcPct val="0"/>
                </a:spcBef>
              </a:pPr>
              <a:r>
                <a:rPr lang="en-US" b="true" sz="45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&amp; Image Size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95250"/>
              <a:ext cx="6673768" cy="102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19"/>
                </a:lnSpc>
                <a:spcBef>
                  <a:spcPct val="0"/>
                </a:spcBef>
              </a:pPr>
              <a:r>
                <a:rPr lang="en-US" b="true" sz="45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256x256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613048" y="4267705"/>
            <a:ext cx="2206404" cy="1465841"/>
            <a:chOff x="0" y="0"/>
            <a:chExt cx="2941873" cy="1954454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1399464"/>
              <a:ext cx="2941873" cy="554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b="true" sz="2100" spc="126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BATCH SIZE 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9525"/>
              <a:ext cx="2941873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79"/>
                </a:lnSpc>
              </a:pPr>
              <a:r>
                <a:rPr lang="en-US" sz="6399" spc="-127">
                  <a:solidFill>
                    <a:srgbClr val="FFFFFF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79746" y="5688304"/>
            <a:ext cx="5673504" cy="3159869"/>
            <a:chOff x="0" y="0"/>
            <a:chExt cx="7564673" cy="4213158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2936100"/>
              <a:ext cx="6026225" cy="127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866"/>
                </a:lnSpc>
                <a:spcBef>
                  <a:spcPct val="0"/>
                </a:spcBef>
              </a:pPr>
              <a:r>
                <a:rPr lang="en-US" b="true" sz="5721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LR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-123825"/>
              <a:ext cx="7564673" cy="127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866"/>
                </a:lnSpc>
                <a:spcBef>
                  <a:spcPct val="0"/>
                </a:spcBef>
              </a:pPr>
              <a:r>
                <a:rPr lang="en-US" b="true" sz="5721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0.0001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634164" y="6068630"/>
            <a:ext cx="5082086" cy="2540261"/>
            <a:chOff x="0" y="0"/>
            <a:chExt cx="6776115" cy="3387014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2364664"/>
              <a:ext cx="5398038" cy="102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19"/>
                </a:lnSpc>
                <a:spcBef>
                  <a:spcPct val="0"/>
                </a:spcBef>
              </a:pPr>
              <a:r>
                <a:rPr lang="en-US" b="true" sz="45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Epochs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-95250"/>
              <a:ext cx="6776115" cy="102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19"/>
                </a:lnSpc>
                <a:spcBef>
                  <a:spcPct val="0"/>
                </a:spcBef>
              </a:pPr>
              <a:r>
                <a:rPr lang="en-US" b="true" sz="4599" strike="noStrike" u="non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81394" y="5766106"/>
            <a:ext cx="4331654" cy="3892924"/>
            <a:chOff x="0" y="0"/>
            <a:chExt cx="1140847" cy="10252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40847" cy="1025297"/>
            </a:xfrm>
            <a:custGeom>
              <a:avLst/>
              <a:gdLst/>
              <a:ahLst/>
              <a:cxnLst/>
              <a:rect r="r" b="b" t="t" l="l"/>
              <a:pathLst>
                <a:path h="1025297" w="1140847">
                  <a:moveTo>
                    <a:pt x="90482" y="0"/>
                  </a:moveTo>
                  <a:lnTo>
                    <a:pt x="1050366" y="0"/>
                  </a:lnTo>
                  <a:cubicBezTo>
                    <a:pt x="1100337" y="0"/>
                    <a:pt x="1140847" y="40510"/>
                    <a:pt x="1140847" y="90482"/>
                  </a:cubicBezTo>
                  <a:lnTo>
                    <a:pt x="1140847" y="934816"/>
                  </a:lnTo>
                  <a:cubicBezTo>
                    <a:pt x="1140847" y="984787"/>
                    <a:pt x="1100337" y="1025297"/>
                    <a:pt x="1050366" y="1025297"/>
                  </a:cubicBezTo>
                  <a:lnTo>
                    <a:pt x="90482" y="1025297"/>
                  </a:lnTo>
                  <a:cubicBezTo>
                    <a:pt x="66484" y="1025297"/>
                    <a:pt x="43470" y="1015764"/>
                    <a:pt x="26501" y="998796"/>
                  </a:cubicBezTo>
                  <a:cubicBezTo>
                    <a:pt x="9533" y="981827"/>
                    <a:pt x="0" y="958813"/>
                    <a:pt x="0" y="934816"/>
                  </a:cubicBezTo>
                  <a:lnTo>
                    <a:pt x="0" y="90482"/>
                  </a:lnTo>
                  <a:cubicBezTo>
                    <a:pt x="0" y="40510"/>
                    <a:pt x="40510" y="0"/>
                    <a:pt x="90482" y="0"/>
                  </a:cubicBezTo>
                  <a:close/>
                </a:path>
              </a:pathLst>
            </a:custGeom>
            <a:ln w="19050" cap="rnd">
              <a:solidFill>
                <a:srgbClr val="64748B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140847" cy="104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8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371600" cy="1371600"/>
            <a:chOff x="0" y="0"/>
            <a:chExt cx="18288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288D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" y="987552"/>
            <a:ext cx="768096" cy="768096"/>
            <a:chOff x="0" y="0"/>
            <a:chExt cx="1024128" cy="102412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2331720"/>
            <a:ext cx="16459200" cy="1234440"/>
            <a:chOff x="0" y="0"/>
            <a:chExt cx="21945600" cy="164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Anatomical Consistency Loss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3566160"/>
            <a:ext cx="16459200" cy="960120"/>
            <a:chOff x="0" y="0"/>
            <a:chExt cx="21945600" cy="1280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94560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Predicted grade should be consistent with CEJ–Bone anatomical distance.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172200" y="5212080"/>
            <a:ext cx="5897880" cy="1028700"/>
            <a:chOff x="0" y="0"/>
            <a:chExt cx="7863840" cy="137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638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863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754112" y="0"/>
                  </a:lnTo>
                  <a:cubicBezTo>
                    <a:pt x="7814691" y="0"/>
                    <a:pt x="7863840" y="49149"/>
                    <a:pt x="7863840" y="109728"/>
                  </a:cubicBezTo>
                  <a:lnTo>
                    <a:pt x="7863840" y="1261872"/>
                  </a:lnTo>
                  <a:cubicBezTo>
                    <a:pt x="7863840" y="1322451"/>
                    <a:pt x="7814691" y="1371600"/>
                    <a:pt x="7754112" y="1371600"/>
                  </a:cubicBezTo>
                  <a:lnTo>
                    <a:pt x="109728" y="1371600"/>
                  </a:lnTo>
                  <a:cubicBezTo>
                    <a:pt x="49149" y="1371600"/>
                    <a:pt x="0" y="1322451"/>
                    <a:pt x="0" y="12618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172200" y="5212080"/>
            <a:ext cx="5897880" cy="1028700"/>
            <a:chOff x="0" y="0"/>
            <a:chExt cx="7863840" cy="1371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638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86384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Distance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02090" y="6221730"/>
            <a:ext cx="38100" cy="586740"/>
            <a:chOff x="0" y="0"/>
            <a:chExt cx="50800" cy="782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0" cy="782320"/>
            </a:xfrm>
            <a:custGeom>
              <a:avLst/>
              <a:gdLst/>
              <a:ahLst/>
              <a:cxnLst/>
              <a:rect r="r" b="b" t="t" l="l"/>
              <a:pathLst>
                <a:path h="782320" w="50800">
                  <a:moveTo>
                    <a:pt x="0" y="0"/>
                  </a:moveTo>
                  <a:lnTo>
                    <a:pt x="50800" y="78232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1925875" t="0" r="-1925875" b="0"/>
              </a:stretch>
            </a:blipFill>
            <a:ln w="38100" cap="sq">
              <a:solidFill>
                <a:srgbClr val="CADCF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172200" y="6789420"/>
            <a:ext cx="5897880" cy="1028700"/>
            <a:chOff x="0" y="0"/>
            <a:chExt cx="786384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638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863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754112" y="0"/>
                  </a:lnTo>
                  <a:cubicBezTo>
                    <a:pt x="7814691" y="0"/>
                    <a:pt x="7863840" y="49149"/>
                    <a:pt x="7863840" y="109728"/>
                  </a:cubicBezTo>
                  <a:lnTo>
                    <a:pt x="7863840" y="1261872"/>
                  </a:lnTo>
                  <a:cubicBezTo>
                    <a:pt x="7863840" y="1322451"/>
                    <a:pt x="7814691" y="1371600"/>
                    <a:pt x="7754112" y="1371600"/>
                  </a:cubicBezTo>
                  <a:lnTo>
                    <a:pt x="109728" y="1371600"/>
                  </a:lnTo>
                  <a:cubicBezTo>
                    <a:pt x="49149" y="1371600"/>
                    <a:pt x="0" y="1322451"/>
                    <a:pt x="0" y="12618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172200" y="6789420"/>
            <a:ext cx="5897880" cy="1028700"/>
            <a:chOff x="0" y="0"/>
            <a:chExt cx="7863840" cy="1371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638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86384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Anatomical Grade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02090" y="7799070"/>
            <a:ext cx="38100" cy="586740"/>
            <a:chOff x="0" y="0"/>
            <a:chExt cx="50800" cy="782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" cy="782320"/>
            </a:xfrm>
            <a:custGeom>
              <a:avLst/>
              <a:gdLst/>
              <a:ahLst/>
              <a:cxnLst/>
              <a:rect r="r" b="b" t="t" l="l"/>
              <a:pathLst>
                <a:path h="782320" w="50800">
                  <a:moveTo>
                    <a:pt x="0" y="0"/>
                  </a:moveTo>
                  <a:lnTo>
                    <a:pt x="50800" y="78232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1925875" t="0" r="-1925875" b="0"/>
              </a:stretch>
            </a:blipFill>
            <a:ln w="38100" cap="sq">
              <a:solidFill>
                <a:srgbClr val="CADCF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172200" y="8366760"/>
            <a:ext cx="5897880" cy="1028700"/>
            <a:chOff x="0" y="0"/>
            <a:chExt cx="7863840" cy="137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638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863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754112" y="0"/>
                  </a:lnTo>
                  <a:cubicBezTo>
                    <a:pt x="7814691" y="0"/>
                    <a:pt x="7863840" y="49149"/>
                    <a:pt x="7863840" y="109728"/>
                  </a:cubicBezTo>
                  <a:lnTo>
                    <a:pt x="7863840" y="1261872"/>
                  </a:lnTo>
                  <a:cubicBezTo>
                    <a:pt x="7863840" y="1322451"/>
                    <a:pt x="7814691" y="1371600"/>
                    <a:pt x="7754112" y="1371600"/>
                  </a:cubicBezTo>
                  <a:lnTo>
                    <a:pt x="109728" y="1371600"/>
                  </a:lnTo>
                  <a:cubicBezTo>
                    <a:pt x="49149" y="1371600"/>
                    <a:pt x="0" y="1322451"/>
                    <a:pt x="0" y="1261872"/>
                  </a:cubicBezTo>
                  <a:close/>
                </a:path>
              </a:pathLst>
            </a:custGeom>
            <a:solidFill>
              <a:srgbClr val="0288D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172200" y="8366760"/>
            <a:ext cx="5897880" cy="1028700"/>
            <a:chOff x="0" y="0"/>
            <a:chExt cx="7863840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638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786384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Consistency Loss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02090" y="9376410"/>
            <a:ext cx="38100" cy="586740"/>
            <a:chOff x="0" y="0"/>
            <a:chExt cx="50800" cy="7823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800" cy="782320"/>
            </a:xfrm>
            <a:custGeom>
              <a:avLst/>
              <a:gdLst/>
              <a:ahLst/>
              <a:cxnLst/>
              <a:rect r="r" b="b" t="t" l="l"/>
              <a:pathLst>
                <a:path h="782320" w="50800">
                  <a:moveTo>
                    <a:pt x="0" y="0"/>
                  </a:moveTo>
                  <a:lnTo>
                    <a:pt x="50800" y="78232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1925875" t="0" r="-1925875" b="0"/>
              </a:stretch>
            </a:blipFill>
            <a:ln w="38100" cap="sq">
              <a:solidFill>
                <a:srgbClr val="CADCF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172200" y="9944100"/>
            <a:ext cx="5897880" cy="1028700"/>
            <a:chOff x="0" y="0"/>
            <a:chExt cx="7863840" cy="1371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8638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8638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754112" y="0"/>
                  </a:lnTo>
                  <a:cubicBezTo>
                    <a:pt x="7814691" y="0"/>
                    <a:pt x="7863840" y="49149"/>
                    <a:pt x="7863840" y="109728"/>
                  </a:cubicBezTo>
                  <a:lnTo>
                    <a:pt x="7863840" y="1261872"/>
                  </a:lnTo>
                  <a:cubicBezTo>
                    <a:pt x="7863840" y="1322451"/>
                    <a:pt x="7814691" y="1371600"/>
                    <a:pt x="7754112" y="1371600"/>
                  </a:cubicBezTo>
                  <a:lnTo>
                    <a:pt x="109728" y="1371600"/>
                  </a:lnTo>
                  <a:cubicBezTo>
                    <a:pt x="49149" y="1371600"/>
                    <a:pt x="0" y="1322451"/>
                    <a:pt x="0" y="12618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172200" y="9944100"/>
            <a:ext cx="5897880" cy="1028700"/>
            <a:chOff x="0" y="0"/>
            <a:chExt cx="786384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638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86384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Output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0972800" cy="1097280"/>
            <a:chOff x="0" y="0"/>
            <a:chExt cx="146304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617220"/>
            <a:ext cx="1371600" cy="1371600"/>
            <a:chOff x="0" y="0"/>
            <a:chExt cx="18288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212312" y="918972"/>
            <a:ext cx="768096" cy="768096"/>
            <a:chOff x="0" y="0"/>
            <a:chExt cx="1024128" cy="102412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822960" y="2331720"/>
          <a:ext cx="10972800" cy="3505200"/>
        </p:xfrm>
        <a:graphic>
          <a:graphicData uri="http://schemas.openxmlformats.org/drawingml/2006/table">
            <a:tbl>
              <a:tblPr/>
              <a:tblGrid>
                <a:gridCol w="4110087"/>
                <a:gridCol w="3431357"/>
                <a:gridCol w="3431357"/>
              </a:tblGrid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Baseline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Proposed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71.3%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70.7%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0.892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IoU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0.847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12207240" y="2331720"/>
            <a:ext cx="5212080" cy="5486400"/>
            <a:chOff x="0" y="0"/>
            <a:chExt cx="6949440" cy="7315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944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949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03136" y="0"/>
                  </a:lnTo>
                  <a:cubicBezTo>
                    <a:pt x="6883908" y="0"/>
                    <a:pt x="6949440" y="65532"/>
                    <a:pt x="6949440" y="146304"/>
                  </a:cubicBezTo>
                  <a:lnTo>
                    <a:pt x="6949440" y="7168896"/>
                  </a:lnTo>
                  <a:cubicBezTo>
                    <a:pt x="6949440" y="7249668"/>
                    <a:pt x="6883908" y="7315200"/>
                    <a:pt x="6803136" y="7315200"/>
                  </a:cubicBezTo>
                  <a:lnTo>
                    <a:pt x="146304" y="7315200"/>
                  </a:lnTo>
                  <a:cubicBezTo>
                    <a:pt x="65532" y="7315200"/>
                    <a:pt x="0" y="7249668"/>
                    <a:pt x="0" y="716889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961620" y="2674620"/>
            <a:ext cx="1234440" cy="1234440"/>
            <a:chOff x="0" y="0"/>
            <a:chExt cx="1645920" cy="164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288D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233197" y="2946197"/>
            <a:ext cx="691286" cy="691286"/>
            <a:chOff x="0" y="0"/>
            <a:chExt cx="921715" cy="921715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21766" cy="921766"/>
            </a:xfrm>
            <a:custGeom>
              <a:avLst/>
              <a:gdLst/>
              <a:ahLst/>
              <a:cxnLst/>
              <a:rect r="r" b="b" t="t" l="l"/>
              <a:pathLst>
                <a:path h="921766" w="921766">
                  <a:moveTo>
                    <a:pt x="0" y="0"/>
                  </a:moveTo>
                  <a:lnTo>
                    <a:pt x="921766" y="0"/>
                  </a:lnTo>
                  <a:lnTo>
                    <a:pt x="921766" y="921766"/>
                  </a:lnTo>
                  <a:lnTo>
                    <a:pt x="0" y="92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5" b="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344400" y="4046220"/>
            <a:ext cx="4937760" cy="685800"/>
            <a:chOff x="0" y="0"/>
            <a:chExt cx="658368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5836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Important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435840" y="4867275"/>
            <a:ext cx="4754880" cy="242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is highly imbalanced.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6307455"/>
            <a:ext cx="1078992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proposed model maintains comparable performance while adding an anatomically-grounded constraint to the classification branch.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0972800" cy="1097280"/>
            <a:chOff x="0" y="0"/>
            <a:chExt cx="146304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Confusion Matrix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617220"/>
            <a:ext cx="1371600" cy="1371600"/>
            <a:chOff x="0" y="0"/>
            <a:chExt cx="18288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212312" y="918972"/>
            <a:ext cx="768096" cy="768096"/>
            <a:chOff x="0" y="0"/>
            <a:chExt cx="1024128" cy="102412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13435" y="2322195"/>
            <a:ext cx="8248650" cy="6877050"/>
            <a:chOff x="0" y="0"/>
            <a:chExt cx="10998200" cy="916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98200" cy="9169400"/>
            </a:xfrm>
            <a:custGeom>
              <a:avLst/>
              <a:gdLst/>
              <a:ahLst/>
              <a:cxnLst/>
              <a:rect r="r" b="b" t="t" l="l"/>
              <a:pathLst>
                <a:path h="9169400" w="10998200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10888218" y="0"/>
                  </a:lnTo>
                  <a:cubicBezTo>
                    <a:pt x="10948924" y="0"/>
                    <a:pt x="10998200" y="49276"/>
                    <a:pt x="10998200" y="109982"/>
                  </a:cubicBezTo>
                  <a:lnTo>
                    <a:pt x="10998200" y="9059418"/>
                  </a:lnTo>
                  <a:cubicBezTo>
                    <a:pt x="10998200" y="9120125"/>
                    <a:pt x="10948924" y="9169400"/>
                    <a:pt x="10888218" y="9169400"/>
                  </a:cubicBezTo>
                  <a:lnTo>
                    <a:pt x="109982" y="9169400"/>
                  </a:lnTo>
                  <a:cubicBezTo>
                    <a:pt x="49276" y="9169400"/>
                    <a:pt x="0" y="9120124"/>
                    <a:pt x="0" y="9059418"/>
                  </a:cubicBezTo>
                  <a:close/>
                </a:path>
              </a:pathLst>
            </a:custGeom>
            <a:solidFill>
              <a:srgbClr val="E8EEF9"/>
            </a:solidFill>
            <a:ln w="19050" cap="sq">
              <a:solidFill>
                <a:srgbClr val="B8CCEE"/>
              </a:solidFill>
              <a:prstDash val="dash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457700" y="5006340"/>
            <a:ext cx="960120" cy="960120"/>
            <a:chOff x="0" y="0"/>
            <a:chExt cx="1280160" cy="1280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668926" y="5217566"/>
            <a:ext cx="537667" cy="537667"/>
            <a:chOff x="0" y="0"/>
            <a:chExt cx="716890" cy="71689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716915" cy="716915"/>
            </a:xfrm>
            <a:custGeom>
              <a:avLst/>
              <a:gdLst/>
              <a:ahLst/>
              <a:cxnLst/>
              <a:rect r="r" b="b" t="t" l="l"/>
              <a:pathLst>
                <a:path h="716915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716915"/>
                  </a:lnTo>
                  <a:lnTo>
                    <a:pt x="0" y="71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6103620"/>
            <a:ext cx="8229600" cy="548640"/>
            <a:chOff x="0" y="0"/>
            <a:chExt cx="109728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Baseline Confusion Matrix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32620" y="2331720"/>
            <a:ext cx="8023860" cy="6858000"/>
            <a:chOff x="0" y="0"/>
            <a:chExt cx="10698480" cy="914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9848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8997696"/>
                  </a:lnTo>
                  <a:cubicBezTo>
                    <a:pt x="10698480" y="9078468"/>
                    <a:pt x="10632948" y="9144000"/>
                    <a:pt x="10552176" y="9144000"/>
                  </a:cubicBezTo>
                  <a:lnTo>
                    <a:pt x="146304" y="9144000"/>
                  </a:lnTo>
                  <a:cubicBezTo>
                    <a:pt x="65532" y="9144000"/>
                    <a:pt x="0" y="9078468"/>
                    <a:pt x="0" y="8997696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12680" y="2743200"/>
            <a:ext cx="6858000" cy="685800"/>
            <a:chOff x="0" y="0"/>
            <a:chExt cx="91440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91440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Observation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12680" y="3703320"/>
            <a:ext cx="7132320" cy="960120"/>
            <a:chOff x="0" y="0"/>
            <a:chExt cx="950976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097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50976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Most samples belong to Grade 2.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104120" y="4789170"/>
            <a:ext cx="6949440" cy="353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This creates a class imbalance problem: the model is biased toward predicting the majority class, which affects classification metrics for minority grades (0 and 1).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0972800" cy="1097280"/>
            <a:chOff x="0" y="0"/>
            <a:chExt cx="146304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Qualitative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617220"/>
            <a:ext cx="1371600" cy="1371600"/>
            <a:chOff x="0" y="0"/>
            <a:chExt cx="18288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4F8F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212312" y="918972"/>
            <a:ext cx="768096" cy="768096"/>
            <a:chOff x="0" y="0"/>
            <a:chExt cx="1024128" cy="102412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1577340"/>
            <a:ext cx="5349240" cy="548640"/>
            <a:chOff x="0" y="0"/>
            <a:chExt cx="713232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132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Image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77940" y="1577340"/>
            <a:ext cx="5349240" cy="548640"/>
            <a:chOff x="0" y="0"/>
            <a:chExt cx="71323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132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Ground Truth Mask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32920" y="1577340"/>
            <a:ext cx="5349240" cy="548640"/>
            <a:chOff x="0" y="0"/>
            <a:chExt cx="71323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132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Predicted Mask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3435" y="2253615"/>
            <a:ext cx="5368290" cy="2419350"/>
            <a:chOff x="0" y="0"/>
            <a:chExt cx="7157720" cy="3225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47103" y="0"/>
                  </a:lnTo>
                  <a:cubicBezTo>
                    <a:pt x="7108190" y="0"/>
                    <a:pt x="7157720" y="49530"/>
                    <a:pt x="7157720" y="110617"/>
                  </a:cubicBezTo>
                  <a:lnTo>
                    <a:pt x="7157720" y="3115183"/>
                  </a:lnTo>
                  <a:cubicBezTo>
                    <a:pt x="7157720" y="3176270"/>
                    <a:pt x="7108190" y="3225800"/>
                    <a:pt x="7047103" y="3225800"/>
                  </a:cubicBezTo>
                  <a:lnTo>
                    <a:pt x="110617" y="3225800"/>
                  </a:lnTo>
                  <a:cubicBezTo>
                    <a:pt x="49530" y="3225800"/>
                    <a:pt x="0" y="3176270"/>
                    <a:pt x="0" y="3115183"/>
                  </a:cubicBezTo>
                  <a:close/>
                </a:path>
              </a:pathLst>
            </a:custGeom>
            <a:solidFill>
              <a:srgbClr val="E8EEF9"/>
            </a:solidFill>
            <a:ln w="19050" cap="sq">
              <a:solidFill>
                <a:srgbClr val="B8CCEE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017520" y="2708910"/>
            <a:ext cx="960120" cy="960120"/>
            <a:chOff x="0" y="0"/>
            <a:chExt cx="1280160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228746" y="2920136"/>
            <a:ext cx="537667" cy="537667"/>
            <a:chOff x="0" y="0"/>
            <a:chExt cx="716890" cy="71689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716915" cy="716915"/>
            </a:xfrm>
            <a:custGeom>
              <a:avLst/>
              <a:gdLst/>
              <a:ahLst/>
              <a:cxnLst/>
              <a:rect r="r" b="b" t="t" l="l"/>
              <a:pathLst>
                <a:path h="716915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716915"/>
                  </a:lnTo>
                  <a:lnTo>
                    <a:pt x="0" y="71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3806190"/>
            <a:ext cx="5349240" cy="548640"/>
            <a:chOff x="0" y="0"/>
            <a:chExt cx="71323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132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Example 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68415" y="2253615"/>
            <a:ext cx="5368290" cy="2419350"/>
            <a:chOff x="0" y="0"/>
            <a:chExt cx="7157720" cy="3225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47103" y="0"/>
                  </a:lnTo>
                  <a:cubicBezTo>
                    <a:pt x="7108190" y="0"/>
                    <a:pt x="7157720" y="49530"/>
                    <a:pt x="7157720" y="110617"/>
                  </a:cubicBezTo>
                  <a:lnTo>
                    <a:pt x="7157720" y="3115183"/>
                  </a:lnTo>
                  <a:cubicBezTo>
                    <a:pt x="7157720" y="3176270"/>
                    <a:pt x="7108190" y="3225800"/>
                    <a:pt x="7047103" y="3225800"/>
                  </a:cubicBezTo>
                  <a:lnTo>
                    <a:pt x="110617" y="3225800"/>
                  </a:lnTo>
                  <a:cubicBezTo>
                    <a:pt x="49530" y="3225800"/>
                    <a:pt x="0" y="3176270"/>
                    <a:pt x="0" y="3115183"/>
                  </a:cubicBezTo>
                  <a:close/>
                </a:path>
              </a:pathLst>
            </a:custGeom>
            <a:solidFill>
              <a:srgbClr val="E8EEF9"/>
            </a:solidFill>
            <a:ln w="19050" cap="sq">
              <a:solidFill>
                <a:srgbClr val="B8CCEE"/>
              </a:solidFill>
              <a:prstDash val="dash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572500" y="2708910"/>
            <a:ext cx="960120" cy="960120"/>
            <a:chOff x="0" y="0"/>
            <a:chExt cx="1280160" cy="12801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783726" y="2920136"/>
            <a:ext cx="537667" cy="537667"/>
            <a:chOff x="0" y="0"/>
            <a:chExt cx="716890" cy="71689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716915" cy="716915"/>
            </a:xfrm>
            <a:custGeom>
              <a:avLst/>
              <a:gdLst/>
              <a:ahLst/>
              <a:cxnLst/>
              <a:rect r="r" b="b" t="t" l="l"/>
              <a:pathLst>
                <a:path h="716915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716915"/>
                  </a:lnTo>
                  <a:lnTo>
                    <a:pt x="0" y="71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377940" y="3806190"/>
            <a:ext cx="5349240" cy="548640"/>
            <a:chOff x="0" y="0"/>
            <a:chExt cx="713232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132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Example 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923395" y="2253615"/>
            <a:ext cx="5368290" cy="2419350"/>
            <a:chOff x="0" y="0"/>
            <a:chExt cx="7157720" cy="3225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47103" y="0"/>
                  </a:lnTo>
                  <a:cubicBezTo>
                    <a:pt x="7108190" y="0"/>
                    <a:pt x="7157720" y="49530"/>
                    <a:pt x="7157720" y="110617"/>
                  </a:cubicBezTo>
                  <a:lnTo>
                    <a:pt x="7157720" y="3115183"/>
                  </a:lnTo>
                  <a:cubicBezTo>
                    <a:pt x="7157720" y="3176270"/>
                    <a:pt x="7108190" y="3225800"/>
                    <a:pt x="7047103" y="3225800"/>
                  </a:cubicBezTo>
                  <a:lnTo>
                    <a:pt x="110617" y="3225800"/>
                  </a:lnTo>
                  <a:cubicBezTo>
                    <a:pt x="49530" y="3225800"/>
                    <a:pt x="0" y="3176270"/>
                    <a:pt x="0" y="3115183"/>
                  </a:cubicBezTo>
                  <a:close/>
                </a:path>
              </a:pathLst>
            </a:custGeom>
            <a:solidFill>
              <a:srgbClr val="E8EEF9"/>
            </a:solidFill>
            <a:ln w="19050" cap="sq">
              <a:solidFill>
                <a:srgbClr val="B8CCEE"/>
              </a:solidFill>
              <a:prstDash val="dash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4127480" y="2708910"/>
            <a:ext cx="960120" cy="960120"/>
            <a:chOff x="0" y="0"/>
            <a:chExt cx="128016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338706" y="2920136"/>
            <a:ext cx="537667" cy="537667"/>
            <a:chOff x="0" y="0"/>
            <a:chExt cx="716890" cy="71689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716915" cy="716915"/>
            </a:xfrm>
            <a:custGeom>
              <a:avLst/>
              <a:gdLst/>
              <a:ahLst/>
              <a:cxnLst/>
              <a:rect r="r" b="b" t="t" l="l"/>
              <a:pathLst>
                <a:path h="716915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716915"/>
                  </a:lnTo>
                  <a:lnTo>
                    <a:pt x="0" y="71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932920" y="3806190"/>
            <a:ext cx="5349240" cy="548640"/>
            <a:chOff x="0" y="0"/>
            <a:chExt cx="713232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132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Example 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13435" y="4859655"/>
            <a:ext cx="5368290" cy="2419350"/>
            <a:chOff x="0" y="0"/>
            <a:chExt cx="7157720" cy="3225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47103" y="0"/>
                  </a:lnTo>
                  <a:cubicBezTo>
                    <a:pt x="7108190" y="0"/>
                    <a:pt x="7157720" y="49530"/>
                    <a:pt x="7157720" y="110617"/>
                  </a:cubicBezTo>
                  <a:lnTo>
                    <a:pt x="7157720" y="3115183"/>
                  </a:lnTo>
                  <a:cubicBezTo>
                    <a:pt x="7157720" y="3176270"/>
                    <a:pt x="7108190" y="3225800"/>
                    <a:pt x="7047103" y="3225800"/>
                  </a:cubicBezTo>
                  <a:lnTo>
                    <a:pt x="110617" y="3225800"/>
                  </a:lnTo>
                  <a:cubicBezTo>
                    <a:pt x="49530" y="3225800"/>
                    <a:pt x="0" y="3176270"/>
                    <a:pt x="0" y="3115183"/>
                  </a:cubicBezTo>
                  <a:close/>
                </a:path>
              </a:pathLst>
            </a:custGeom>
            <a:solidFill>
              <a:srgbClr val="E8EEF9"/>
            </a:solidFill>
            <a:ln w="19050" cap="sq">
              <a:solidFill>
                <a:srgbClr val="B8CCEE"/>
              </a:solidFill>
              <a:prstDash val="dash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3017520" y="5314950"/>
            <a:ext cx="960120" cy="960120"/>
            <a:chOff x="0" y="0"/>
            <a:chExt cx="1280160" cy="1280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228746" y="5526176"/>
            <a:ext cx="537667" cy="537667"/>
            <a:chOff x="0" y="0"/>
            <a:chExt cx="716890" cy="716890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716915" cy="716915"/>
            </a:xfrm>
            <a:custGeom>
              <a:avLst/>
              <a:gdLst/>
              <a:ahLst/>
              <a:cxnLst/>
              <a:rect r="r" b="b" t="t" l="l"/>
              <a:pathLst>
                <a:path h="716915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716915"/>
                  </a:lnTo>
                  <a:lnTo>
                    <a:pt x="0" y="71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22960" y="6412230"/>
            <a:ext cx="5349240" cy="548640"/>
            <a:chOff x="0" y="0"/>
            <a:chExt cx="71323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7132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Example 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368415" y="4859655"/>
            <a:ext cx="5368290" cy="2419350"/>
            <a:chOff x="0" y="0"/>
            <a:chExt cx="7157720" cy="3225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47103" y="0"/>
                  </a:lnTo>
                  <a:cubicBezTo>
                    <a:pt x="7108190" y="0"/>
                    <a:pt x="7157720" y="49530"/>
                    <a:pt x="7157720" y="110617"/>
                  </a:cubicBezTo>
                  <a:lnTo>
                    <a:pt x="7157720" y="3115183"/>
                  </a:lnTo>
                  <a:cubicBezTo>
                    <a:pt x="7157720" y="3176270"/>
                    <a:pt x="7108190" y="3225800"/>
                    <a:pt x="7047103" y="3225800"/>
                  </a:cubicBezTo>
                  <a:lnTo>
                    <a:pt x="110617" y="3225800"/>
                  </a:lnTo>
                  <a:cubicBezTo>
                    <a:pt x="49530" y="3225800"/>
                    <a:pt x="0" y="3176270"/>
                    <a:pt x="0" y="3115183"/>
                  </a:cubicBezTo>
                  <a:close/>
                </a:path>
              </a:pathLst>
            </a:custGeom>
            <a:solidFill>
              <a:srgbClr val="E8EEF9"/>
            </a:solidFill>
            <a:ln w="19050" cap="sq">
              <a:solidFill>
                <a:srgbClr val="B8CCEE"/>
              </a:solidFill>
              <a:prstDash val="dash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572500" y="5314950"/>
            <a:ext cx="960120" cy="960120"/>
            <a:chOff x="0" y="0"/>
            <a:chExt cx="1280160" cy="12801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783726" y="5526176"/>
            <a:ext cx="537667" cy="537667"/>
            <a:chOff x="0" y="0"/>
            <a:chExt cx="716890" cy="71689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716915" cy="716915"/>
            </a:xfrm>
            <a:custGeom>
              <a:avLst/>
              <a:gdLst/>
              <a:ahLst/>
              <a:cxnLst/>
              <a:rect r="r" b="b" t="t" l="l"/>
              <a:pathLst>
                <a:path h="716915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716915"/>
                  </a:lnTo>
                  <a:lnTo>
                    <a:pt x="0" y="71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377940" y="6412230"/>
            <a:ext cx="5349240" cy="548640"/>
            <a:chOff x="0" y="0"/>
            <a:chExt cx="713232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132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Example 2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923395" y="4859655"/>
            <a:ext cx="5368290" cy="2419350"/>
            <a:chOff x="0" y="0"/>
            <a:chExt cx="7157720" cy="3225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47103" y="0"/>
                  </a:lnTo>
                  <a:cubicBezTo>
                    <a:pt x="7108190" y="0"/>
                    <a:pt x="7157720" y="49530"/>
                    <a:pt x="7157720" y="110617"/>
                  </a:cubicBezTo>
                  <a:lnTo>
                    <a:pt x="7157720" y="3115183"/>
                  </a:lnTo>
                  <a:cubicBezTo>
                    <a:pt x="7157720" y="3176270"/>
                    <a:pt x="7108190" y="3225800"/>
                    <a:pt x="7047103" y="3225800"/>
                  </a:cubicBezTo>
                  <a:lnTo>
                    <a:pt x="110617" y="3225800"/>
                  </a:lnTo>
                  <a:cubicBezTo>
                    <a:pt x="49530" y="3225800"/>
                    <a:pt x="0" y="3176270"/>
                    <a:pt x="0" y="3115183"/>
                  </a:cubicBezTo>
                  <a:close/>
                </a:path>
              </a:pathLst>
            </a:custGeom>
            <a:solidFill>
              <a:srgbClr val="E8EEF9"/>
            </a:solidFill>
            <a:ln w="19050" cap="sq">
              <a:solidFill>
                <a:srgbClr val="B8CCEE"/>
              </a:solidFill>
              <a:prstDash val="dash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127480" y="5314950"/>
            <a:ext cx="960120" cy="960120"/>
            <a:chOff x="0" y="0"/>
            <a:chExt cx="1280160" cy="12801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4338706" y="5526176"/>
            <a:ext cx="537667" cy="537667"/>
            <a:chOff x="0" y="0"/>
            <a:chExt cx="716890" cy="716890"/>
          </a:xfrm>
        </p:grpSpPr>
        <p:sp>
          <p:nvSpPr>
            <p:cNvPr name="Freeform 68" id="68" descr="preencoded.png"/>
            <p:cNvSpPr/>
            <p:nvPr/>
          </p:nvSpPr>
          <p:spPr>
            <a:xfrm flipH="false" flipV="false" rot="0">
              <a:off x="0" y="0"/>
              <a:ext cx="716915" cy="716915"/>
            </a:xfrm>
            <a:custGeom>
              <a:avLst/>
              <a:gdLst/>
              <a:ahLst/>
              <a:cxnLst/>
              <a:rect r="r" b="b" t="t" l="l"/>
              <a:pathLst>
                <a:path h="716915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716915"/>
                  </a:lnTo>
                  <a:lnTo>
                    <a:pt x="0" y="71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932920" y="6412230"/>
            <a:ext cx="5349240" cy="548640"/>
            <a:chOff x="0" y="0"/>
            <a:chExt cx="713232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7132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Example 2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13435" y="7465695"/>
            <a:ext cx="5368290" cy="2419350"/>
            <a:chOff x="0" y="0"/>
            <a:chExt cx="7157720" cy="3225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47103" y="0"/>
                  </a:lnTo>
                  <a:cubicBezTo>
                    <a:pt x="7108190" y="0"/>
                    <a:pt x="7157720" y="49530"/>
                    <a:pt x="7157720" y="110617"/>
                  </a:cubicBezTo>
                  <a:lnTo>
                    <a:pt x="7157720" y="3115183"/>
                  </a:lnTo>
                  <a:cubicBezTo>
                    <a:pt x="7157720" y="3176270"/>
                    <a:pt x="7108190" y="3225800"/>
                    <a:pt x="7047103" y="3225800"/>
                  </a:cubicBezTo>
                  <a:lnTo>
                    <a:pt x="110617" y="3225800"/>
                  </a:lnTo>
                  <a:cubicBezTo>
                    <a:pt x="49530" y="3225800"/>
                    <a:pt x="0" y="3176270"/>
                    <a:pt x="0" y="3115183"/>
                  </a:cubicBezTo>
                  <a:close/>
                </a:path>
              </a:pathLst>
            </a:custGeom>
            <a:solidFill>
              <a:srgbClr val="E8EEF9"/>
            </a:solidFill>
            <a:ln w="19050" cap="sq">
              <a:solidFill>
                <a:srgbClr val="B8CCEE"/>
              </a:solidFill>
              <a:prstDash val="dash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3017520" y="7920990"/>
            <a:ext cx="960120" cy="960120"/>
            <a:chOff x="0" y="0"/>
            <a:chExt cx="1280160" cy="12801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3228746" y="8132216"/>
            <a:ext cx="537667" cy="537667"/>
            <a:chOff x="0" y="0"/>
            <a:chExt cx="716890" cy="716890"/>
          </a:xfrm>
        </p:grpSpPr>
        <p:sp>
          <p:nvSpPr>
            <p:cNvPr name="Freeform 77" id="77" descr="preencoded.png"/>
            <p:cNvSpPr/>
            <p:nvPr/>
          </p:nvSpPr>
          <p:spPr>
            <a:xfrm flipH="false" flipV="false" rot="0">
              <a:off x="0" y="0"/>
              <a:ext cx="716915" cy="716915"/>
            </a:xfrm>
            <a:custGeom>
              <a:avLst/>
              <a:gdLst/>
              <a:ahLst/>
              <a:cxnLst/>
              <a:rect r="r" b="b" t="t" l="l"/>
              <a:pathLst>
                <a:path h="716915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716915"/>
                  </a:lnTo>
                  <a:lnTo>
                    <a:pt x="0" y="71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22960" y="9018270"/>
            <a:ext cx="5349240" cy="548640"/>
            <a:chOff x="0" y="0"/>
            <a:chExt cx="713232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7132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Example 3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368415" y="7465695"/>
            <a:ext cx="5368290" cy="2419350"/>
            <a:chOff x="0" y="0"/>
            <a:chExt cx="7157720" cy="3225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47103" y="0"/>
                  </a:lnTo>
                  <a:cubicBezTo>
                    <a:pt x="7108190" y="0"/>
                    <a:pt x="7157720" y="49530"/>
                    <a:pt x="7157720" y="110617"/>
                  </a:cubicBezTo>
                  <a:lnTo>
                    <a:pt x="7157720" y="3115183"/>
                  </a:lnTo>
                  <a:cubicBezTo>
                    <a:pt x="7157720" y="3176270"/>
                    <a:pt x="7108190" y="3225800"/>
                    <a:pt x="7047103" y="3225800"/>
                  </a:cubicBezTo>
                  <a:lnTo>
                    <a:pt x="110617" y="3225800"/>
                  </a:lnTo>
                  <a:cubicBezTo>
                    <a:pt x="49530" y="3225800"/>
                    <a:pt x="0" y="3176270"/>
                    <a:pt x="0" y="3115183"/>
                  </a:cubicBezTo>
                  <a:close/>
                </a:path>
              </a:pathLst>
            </a:custGeom>
            <a:solidFill>
              <a:srgbClr val="E8EEF9"/>
            </a:solidFill>
            <a:ln w="19050" cap="sq">
              <a:solidFill>
                <a:srgbClr val="B8CCEE"/>
              </a:solidFill>
              <a:prstDash val="dash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8572500" y="7920990"/>
            <a:ext cx="960120" cy="960120"/>
            <a:chOff x="0" y="0"/>
            <a:chExt cx="1280160" cy="12801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8783726" y="8132216"/>
            <a:ext cx="537667" cy="537667"/>
            <a:chOff x="0" y="0"/>
            <a:chExt cx="716890" cy="716890"/>
          </a:xfrm>
        </p:grpSpPr>
        <p:sp>
          <p:nvSpPr>
            <p:cNvPr name="Freeform 86" id="86" descr="preencoded.png"/>
            <p:cNvSpPr/>
            <p:nvPr/>
          </p:nvSpPr>
          <p:spPr>
            <a:xfrm flipH="false" flipV="false" rot="0">
              <a:off x="0" y="0"/>
              <a:ext cx="716915" cy="716915"/>
            </a:xfrm>
            <a:custGeom>
              <a:avLst/>
              <a:gdLst/>
              <a:ahLst/>
              <a:cxnLst/>
              <a:rect r="r" b="b" t="t" l="l"/>
              <a:pathLst>
                <a:path h="716915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716915"/>
                  </a:lnTo>
                  <a:lnTo>
                    <a:pt x="0" y="71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377940" y="9018270"/>
            <a:ext cx="5349240" cy="548640"/>
            <a:chOff x="0" y="0"/>
            <a:chExt cx="713232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7132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Example 3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923395" y="7465695"/>
            <a:ext cx="5368290" cy="2419350"/>
            <a:chOff x="0" y="0"/>
            <a:chExt cx="7157720" cy="32258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15772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15772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7047103" y="0"/>
                  </a:lnTo>
                  <a:cubicBezTo>
                    <a:pt x="7108190" y="0"/>
                    <a:pt x="7157720" y="49530"/>
                    <a:pt x="7157720" y="110617"/>
                  </a:cubicBezTo>
                  <a:lnTo>
                    <a:pt x="7157720" y="3115183"/>
                  </a:lnTo>
                  <a:cubicBezTo>
                    <a:pt x="7157720" y="3176270"/>
                    <a:pt x="7108190" y="3225800"/>
                    <a:pt x="7047103" y="3225800"/>
                  </a:cubicBezTo>
                  <a:lnTo>
                    <a:pt x="110617" y="3225800"/>
                  </a:lnTo>
                  <a:cubicBezTo>
                    <a:pt x="49530" y="3225800"/>
                    <a:pt x="0" y="3176270"/>
                    <a:pt x="0" y="3115183"/>
                  </a:cubicBezTo>
                  <a:close/>
                </a:path>
              </a:pathLst>
            </a:custGeom>
            <a:solidFill>
              <a:srgbClr val="E8EEF9"/>
            </a:solidFill>
            <a:ln w="19050" cap="sq">
              <a:solidFill>
                <a:srgbClr val="B8CCEE"/>
              </a:solidFill>
              <a:prstDash val="dash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4127480" y="7920990"/>
            <a:ext cx="960120" cy="960120"/>
            <a:chOff x="0" y="0"/>
            <a:chExt cx="1280160" cy="12801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4338706" y="8132216"/>
            <a:ext cx="537667" cy="537667"/>
            <a:chOff x="0" y="0"/>
            <a:chExt cx="716890" cy="716890"/>
          </a:xfrm>
        </p:grpSpPr>
        <p:sp>
          <p:nvSpPr>
            <p:cNvPr name="Freeform 95" id="95" descr="preencoded.png"/>
            <p:cNvSpPr/>
            <p:nvPr/>
          </p:nvSpPr>
          <p:spPr>
            <a:xfrm flipH="false" flipV="false" rot="0">
              <a:off x="0" y="0"/>
              <a:ext cx="716915" cy="716915"/>
            </a:xfrm>
            <a:custGeom>
              <a:avLst/>
              <a:gdLst/>
              <a:ahLst/>
              <a:cxnLst/>
              <a:rect r="r" b="b" t="t" l="l"/>
              <a:pathLst>
                <a:path h="716915" w="716915">
                  <a:moveTo>
                    <a:pt x="0" y="0"/>
                  </a:moveTo>
                  <a:lnTo>
                    <a:pt x="716915" y="0"/>
                  </a:lnTo>
                  <a:lnTo>
                    <a:pt x="716915" y="716915"/>
                  </a:lnTo>
                  <a:lnTo>
                    <a:pt x="0" y="71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1932920" y="9018270"/>
            <a:ext cx="5349240" cy="548640"/>
            <a:chOff x="0" y="0"/>
            <a:chExt cx="7132320" cy="731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7132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Example 3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8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371600" cy="1371600"/>
            <a:chOff x="0" y="0"/>
            <a:chExt cx="18288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" y="987552"/>
            <a:ext cx="768096" cy="768096"/>
            <a:chOff x="0" y="0"/>
            <a:chExt cx="1024128" cy="102412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2331720"/>
            <a:ext cx="10972800" cy="1234440"/>
            <a:chOff x="0" y="0"/>
            <a:chExt cx="14630400" cy="164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6304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3840480"/>
            <a:ext cx="16596360" cy="3017520"/>
            <a:chOff x="0" y="0"/>
            <a:chExt cx="22128480" cy="4023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3877056"/>
                  </a:lnTo>
                  <a:cubicBezTo>
                    <a:pt x="22128480" y="3957828"/>
                    <a:pt x="22062948" y="4023360"/>
                    <a:pt x="21982176" y="4023360"/>
                  </a:cubicBezTo>
                  <a:lnTo>
                    <a:pt x="146304" y="4023360"/>
                  </a:lnTo>
                  <a:cubicBezTo>
                    <a:pt x="65532" y="4023360"/>
                    <a:pt x="0" y="3957828"/>
                    <a:pt x="0" y="3877056"/>
                  </a:cubicBezTo>
                  <a:close/>
                </a:path>
              </a:pathLst>
            </a:custGeom>
            <a:solidFill>
              <a:srgbClr val="2A3A7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00" y="3840480"/>
            <a:ext cx="15499080" cy="3017520"/>
            <a:chOff x="0" y="0"/>
            <a:chExt cx="20665440" cy="4023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65439" cy="4023360"/>
            </a:xfrm>
            <a:custGeom>
              <a:avLst/>
              <a:gdLst/>
              <a:ahLst/>
              <a:cxnLst/>
              <a:rect r="r" b="b" t="t" l="l"/>
              <a:pathLst>
                <a:path h="402336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082" r="0" b="-500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0665440" cy="4070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61486" indent="-230743" lvl="1">
                <a:lnSpc>
                  <a:spcPts val="3060"/>
                </a:lnSpc>
                <a:buFont typeface="Arial"/>
                <a:buChar char="•"/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Multi-task learning was successfully implemented</a:t>
              </a:r>
            </a:p>
            <a:p>
              <a:pPr algn="l" marL="461486" indent="-230743" lvl="1">
                <a:lnSpc>
                  <a:spcPts val="3060"/>
                </a:lnSpc>
                <a:buFont typeface="Arial"/>
                <a:buChar char="•"/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Anatomical consistency constraints were integrated</a:t>
              </a:r>
            </a:p>
            <a:p>
              <a:pPr algn="l" marL="461486" indent="-230743" lvl="1">
                <a:lnSpc>
                  <a:spcPts val="3060"/>
                </a:lnSpc>
                <a:buFont typeface="Arial"/>
                <a:buChar char="•"/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Segmentation performance achieved: Dice = 0.91, IoU = 0.85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7200900"/>
            <a:ext cx="8229600" cy="685800"/>
            <a:chOff x="0" y="0"/>
            <a:chExt cx="109728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72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Work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023860"/>
            <a:ext cx="5417820" cy="1371600"/>
            <a:chOff x="0" y="0"/>
            <a:chExt cx="7223760" cy="182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23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223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1719072"/>
                  </a:lnTo>
                  <a:cubicBezTo>
                    <a:pt x="7223760" y="1779651"/>
                    <a:pt x="7174611" y="1828800"/>
                    <a:pt x="7114032" y="1828800"/>
                  </a:cubicBezTo>
                  <a:lnTo>
                    <a:pt x="109728" y="1828800"/>
                  </a:lnTo>
                  <a:cubicBezTo>
                    <a:pt x="49149" y="1828800"/>
                    <a:pt x="0" y="1779651"/>
                    <a:pt x="0" y="1719072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023860"/>
            <a:ext cx="5417820" cy="1371600"/>
            <a:chOff x="0" y="0"/>
            <a:chExt cx="722376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23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965" r="0" b="-2696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22376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Grad-CAM visualizations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46520" y="8023860"/>
            <a:ext cx="5417820" cy="1371600"/>
            <a:chOff x="0" y="0"/>
            <a:chExt cx="722376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23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223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1719072"/>
                  </a:lnTo>
                  <a:cubicBezTo>
                    <a:pt x="7223760" y="1779651"/>
                    <a:pt x="7174611" y="1828800"/>
                    <a:pt x="7114032" y="1828800"/>
                  </a:cubicBezTo>
                  <a:lnTo>
                    <a:pt x="109728" y="1828800"/>
                  </a:lnTo>
                  <a:cubicBezTo>
                    <a:pt x="49149" y="1828800"/>
                    <a:pt x="0" y="1779651"/>
                    <a:pt x="0" y="1719072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46520" y="8023860"/>
            <a:ext cx="5417820" cy="1371600"/>
            <a:chOff x="0" y="0"/>
            <a:chExt cx="7223760" cy="182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23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965" r="0" b="-2696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22376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Better class balancing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70080" y="8023860"/>
            <a:ext cx="5417820" cy="1371600"/>
            <a:chOff x="0" y="0"/>
            <a:chExt cx="7223760" cy="182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23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223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114032" y="0"/>
                  </a:lnTo>
                  <a:cubicBezTo>
                    <a:pt x="7174611" y="0"/>
                    <a:pt x="7223760" y="49149"/>
                    <a:pt x="7223760" y="109728"/>
                  </a:cubicBezTo>
                  <a:lnTo>
                    <a:pt x="7223760" y="1719072"/>
                  </a:lnTo>
                  <a:cubicBezTo>
                    <a:pt x="7223760" y="1779651"/>
                    <a:pt x="7174611" y="1828800"/>
                    <a:pt x="7114032" y="1828800"/>
                  </a:cubicBezTo>
                  <a:lnTo>
                    <a:pt x="109728" y="1828800"/>
                  </a:lnTo>
                  <a:cubicBezTo>
                    <a:pt x="49149" y="1828800"/>
                    <a:pt x="0" y="1779651"/>
                    <a:pt x="0" y="1719072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070080" y="8023860"/>
            <a:ext cx="5417820" cy="1371600"/>
            <a:chOff x="0" y="0"/>
            <a:chExt cx="722376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23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965" r="0" b="-2696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22376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Clinical grade annotations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DAHMWdWImxk</dc:identifier>
  <dcterms:modified xsi:type="dcterms:W3CDTF">2011-08-01T06:04:30Z</dcterms:modified>
  <cp:revision>1</cp:revision>
  <dc:title>2Periodontitis_Defense_Presentation.pptx</dc:title>
</cp:coreProperties>
</file>